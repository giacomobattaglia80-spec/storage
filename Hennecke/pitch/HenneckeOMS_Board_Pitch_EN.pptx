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charts/chart1.xml" ContentType="application/vnd.openxmlformats-officedocument.drawingml.chart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/Relationships>
</file>

<file path=ppt/charts/_rels/chart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0"/>
    <c:plotArea>
      <c:barChart>
        <c:barDir val="col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2023</c:v>
                </c:pt>
              </c:strCache>
            </c:strRef>
          </c:tx>
          <c:spPr>
            <a:solidFill>
              <a:srgbClr val="9FB2C8"/>
            </a:solidFill>
          </c:spPr>
          <c:cat>
            <c:strRef>
              <c:f>Sheet1!$A$2:$A$4</c:f>
              <c:strCache>
                <c:ptCount val="3"/>
                <c:pt idx="0">
                  <c:v>Revenue</c:v>
                </c:pt>
                <c:pt idx="1">
                  <c:v>Value of prod.</c:v>
                </c:pt>
                <c:pt idx="2">
                  <c:v>EBITDA</c:v>
                </c:pt>
              </c:strCache>
            </c: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50.4</c:v>
                </c:pt>
                <c:pt idx="1">
                  <c:v>52.0</c:v>
                </c:pt>
                <c:pt idx="2">
                  <c:v>3.6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2024</c:v>
                </c:pt>
              </c:strCache>
            </c:strRef>
          </c:tx>
          <c:spPr>
            <a:solidFill>
              <a:srgbClr val="1F3A5F"/>
            </a:solidFill>
          </c:spPr>
          <c:cat>
            <c:strRef>
              <c:f>Sheet1!$A$2:$A$4</c:f>
              <c:strCache>
                <c:ptCount val="3"/>
                <c:pt idx="0">
                  <c:v>Revenue</c:v>
                </c:pt>
                <c:pt idx="1">
                  <c:v>Value of prod.</c:v>
                </c:pt>
                <c:pt idx="2">
                  <c:v>EBITDA</c:v>
                </c:pt>
              </c:strCache>
            </c:strRef>
          </c:cat>
          <c:val>
            <c:numRef>
              <c:f>Sheet1!$C$2:$C$4</c:f>
              <c:numCache>
                <c:formatCode>General</c:formatCode>
                <c:ptCount val="3"/>
                <c:pt idx="0">
                  <c:v>44.2</c:v>
                </c:pt>
                <c:pt idx="1">
                  <c:v>40.7</c:v>
                </c:pt>
                <c:pt idx="2">
                  <c:v>1.5</c:v>
                </c:pt>
              </c:numCache>
            </c:numRef>
          </c:val>
        </c:ser>
        <c:dLbls>
          <c:numFmt formatCode="0.0" sourceLinked="0"/>
          <c:txPr>
            <a:bodyPr/>
            <a:lstStyle/>
            <a:p>
              <a:pPr>
                <a:defRPr sz="1100"/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gapWidth val="80"/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nextTo"/>
        <c:txPr>
          <a:bodyPr/>
          <a:lstStyle/>
          <a:p>
            <a:pPr>
              <a:defRPr sz="1100"/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 val="0"/>
        <c:axPos val="l"/>
        <c:majorGridlines/>
        <c:majorTickMark val="out"/>
        <c:minorTickMark val="none"/>
        <c:tickLblPos val="nextTo"/>
        <c:txPr>
          <a:bodyPr/>
          <a:lstStyle/>
          <a:p>
            <a:pPr>
              <a:defRPr sz="1000"/>
            </a:pPr>
          </a:p>
        </c:txPr>
        <c:crossAx val="-2068027336"/>
        <c:crosses val="autoZero"/>
      </c:valAx>
    </c:plotArea>
    <c:legend>
      <c:legendPos val="t"/>
      <c:overlay val="0"/>
    </c:legend>
    <c:dispBlanksAs val="gap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1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2000" cy="76200"/>
          </a:xfrm>
          <a:prstGeom prst="rect">
            <a:avLst/>
          </a:prstGeom>
          <a:solidFill>
            <a:srgbClr val="C810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4876800"/>
            <a:ext cx="12192000" cy="1981200"/>
          </a:xfrm>
          <a:prstGeom prst="rect">
            <a:avLst/>
          </a:prstGeom>
          <a:solidFill>
            <a:srgbClr val="1A305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914400" y="1752600"/>
            <a:ext cx="6858000" cy="22860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500" b="0" i="0">
                <a:solidFill>
                  <a:srgbClr val="9FB2C8"/>
                </a:solidFill>
                <a:latin typeface="Arial"/>
              </a:rPr>
              <a:t>PRIVATE EQUITY · PROJECT RECAP</a:t>
            </a:r>
          </a:p>
        </p:txBody>
      </p:sp>
      <p:sp>
        <p:nvSpPr>
          <p:cNvPr id="6" name="Rectangle 5"/>
          <p:cNvSpPr/>
          <p:nvPr/>
        </p:nvSpPr>
        <p:spPr>
          <a:xfrm>
            <a:off x="914400" y="2072640"/>
            <a:ext cx="685800" cy="38100"/>
          </a:xfrm>
          <a:prstGeom prst="rect">
            <a:avLst/>
          </a:prstGeom>
          <a:solidFill>
            <a:srgbClr val="C810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83920" y="2286000"/>
            <a:ext cx="9906000" cy="83820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5800" b="1" i="0">
                <a:solidFill>
                  <a:srgbClr val="FFFFFF"/>
                </a:solidFill>
                <a:latin typeface="Arial"/>
              </a:rPr>
              <a:t>HENNECKE-OMS S.p.A.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" y="3162300"/>
            <a:ext cx="9144000" cy="38100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2700" b="0" i="0">
                <a:solidFill>
                  <a:srgbClr val="F2C200"/>
                </a:solidFill>
                <a:latin typeface="Arial"/>
              </a:rPr>
              <a:t>Investment opportunity assessment</a:t>
            </a:r>
          </a:p>
        </p:txBody>
      </p:sp>
      <p:sp>
        <p:nvSpPr>
          <p:cNvPr id="9" name="Rectangle 8"/>
          <p:cNvSpPr/>
          <p:nvPr/>
        </p:nvSpPr>
        <p:spPr>
          <a:xfrm>
            <a:off x="929640" y="3810000"/>
            <a:ext cx="5928360" cy="15240"/>
          </a:xfrm>
          <a:prstGeom prst="rect">
            <a:avLst/>
          </a:prstGeom>
          <a:solidFill>
            <a:srgbClr val="3A55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14400" y="4000500"/>
            <a:ext cx="9144000" cy="68580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900" b="0" i="0">
                <a:solidFill>
                  <a:srgbClr val="CDD8E6"/>
                </a:solidFill>
                <a:latin typeface="Arial"/>
              </a:rPr>
              <a:t>Italian polyurethane-machinery hub of the Hennecke Group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900" b="0" i="0">
                <a:solidFill>
                  <a:srgbClr val="CDD8E6"/>
                </a:solidFill>
                <a:latin typeface="Arial"/>
              </a:rPr>
              <a:t>(part of Brückner Group SE) — carve-out / platform evaluation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14400" y="5295900"/>
            <a:ext cx="5334000" cy="60960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800" b="1" i="0">
                <a:solidFill>
                  <a:srgbClr val="FFFFFF"/>
                </a:solidFill>
                <a:latin typeface="Arial"/>
              </a:rPr>
              <a:t>Presentation to the Board of Directors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600" b="0" i="0">
                <a:solidFill>
                  <a:srgbClr val="9FB2C8"/>
                </a:solidFill>
                <a:latin typeface="Arial"/>
              </a:rPr>
              <a:t>June 2026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620000" y="5295900"/>
            <a:ext cx="3657600" cy="60960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</a:pPr>
            <a:r>
              <a:rPr sz="1400" b="0" i="0">
                <a:solidFill>
                  <a:srgbClr val="9FB2C8"/>
                </a:solidFill>
                <a:latin typeface="Arial"/>
              </a:rPr>
              <a:t>Based on FY2023–2024 filed financials</a:t>
            </a:r>
          </a:p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400" b="0" i="0">
                <a:solidFill>
                  <a:srgbClr val="9FB2C8"/>
                </a:solidFill>
                <a:latin typeface="Arial"/>
              </a:rPr>
              <a:t>Sources: Coface · Chamber of Commerce · public</a:t>
            </a:r>
          </a:p>
        </p:txBody>
      </p:sp>
      <p:sp>
        <p:nvSpPr>
          <p:cNvPr id="13" name="Rectangle 12"/>
          <p:cNvSpPr/>
          <p:nvPr/>
        </p:nvSpPr>
        <p:spPr>
          <a:xfrm>
            <a:off x="914400" y="6248400"/>
            <a:ext cx="10363200" cy="7620"/>
          </a:xfrm>
          <a:prstGeom prst="rect">
            <a:avLst/>
          </a:prstGeom>
          <a:solidFill>
            <a:srgbClr val="2D47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914400" y="6339840"/>
            <a:ext cx="10363200" cy="18288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 i="0">
                <a:solidFill>
                  <a:srgbClr val="7E93AC"/>
                </a:solidFill>
                <a:latin typeface="Arial"/>
              </a:rPr>
              <a:t>CONFIDENTIAL — For Board discussion only. Not an investment recommendation; subject to specialist Due Diligence.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0960"/>
          </a:xfrm>
          <a:prstGeom prst="rect">
            <a:avLst/>
          </a:prstGeom>
          <a:solidFill>
            <a:srgbClr val="C810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81000" y="228600"/>
            <a:ext cx="8382000" cy="38100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2600" b="1" i="0">
                <a:solidFill>
                  <a:srgbClr val="1F3A5F"/>
                </a:solidFill>
                <a:latin typeface="Arial"/>
              </a:rPr>
              <a:t>HENNECKE-OMS S.p.A. — Investment opportunity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81000" y="594360"/>
            <a:ext cx="9144000" cy="22860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0" i="0">
                <a:solidFill>
                  <a:srgbClr val="666666"/>
                </a:solidFill>
                <a:latin typeface="Arial"/>
              </a:rPr>
              <a:t>Italian PU-machinery hub of the Hennecke Group · potential carve-out / platform deal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763000" y="198120"/>
            <a:ext cx="3048000" cy="16764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0" i="0">
                <a:solidFill>
                  <a:srgbClr val="999999"/>
                </a:solidFill>
                <a:latin typeface="Arial"/>
              </a:rPr>
              <a:t>CONFIDENTIAL · For Board discussion</a:t>
            </a:r>
          </a:p>
        </p:txBody>
      </p:sp>
      <p:sp>
        <p:nvSpPr>
          <p:cNvPr id="6" name="Rectangle 5"/>
          <p:cNvSpPr/>
          <p:nvPr/>
        </p:nvSpPr>
        <p:spPr>
          <a:xfrm>
            <a:off x="381000" y="6537960"/>
            <a:ext cx="11430000" cy="7620"/>
          </a:xfrm>
          <a:prstGeom prst="rect">
            <a:avLst/>
          </a:prstGeom>
          <a:solidFill>
            <a:srgbClr val="DFE4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668000" y="6598920"/>
            <a:ext cx="1143000" cy="15240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1" i="0">
                <a:solidFill>
                  <a:srgbClr val="1F3A5F"/>
                </a:solidFill>
                <a:latin typeface="Arial"/>
              </a:rPr>
              <a:t>1 / 7</a:t>
            </a:r>
          </a:p>
        </p:txBody>
      </p:sp>
      <p:sp>
        <p:nvSpPr>
          <p:cNvPr id="8" name="Rectangle 7"/>
          <p:cNvSpPr/>
          <p:nvPr/>
        </p:nvSpPr>
        <p:spPr>
          <a:xfrm>
            <a:off x="381000" y="952500"/>
            <a:ext cx="5486400" cy="5334000"/>
          </a:xfrm>
          <a:prstGeom prst="rect">
            <a:avLst/>
          </a:prstGeom>
          <a:solidFill>
            <a:srgbClr val="F7F8FA"/>
          </a:solidFill>
          <a:ln w="12700">
            <a:solidFill>
              <a:srgbClr val="DFE4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381000" y="952500"/>
            <a:ext cx="5486400" cy="350520"/>
          </a:xfrm>
          <a:prstGeom prst="rect">
            <a:avLst/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48640" y="952500"/>
            <a:ext cx="5257800" cy="350520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500" b="1" i="0">
                <a:solidFill>
                  <a:srgbClr val="FFFFFF"/>
                </a:solidFill>
                <a:latin typeface="Arial"/>
              </a:rPr>
              <a:t>Company at a glance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63880" y="1432560"/>
            <a:ext cx="5120640" cy="274320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900"/>
              </a:spcAft>
            </a:pPr>
            <a:r>
              <a:rPr sz="1500" b="0" i="0">
                <a:solidFill>
                  <a:srgbClr val="C8102E"/>
                </a:solidFill>
                <a:latin typeface="Arial"/>
              </a:rPr>
              <a:t>•  </a:t>
            </a:r>
            <a:r>
              <a:rPr sz="1500" b="0" i="0">
                <a:solidFill>
                  <a:srgbClr val="222222"/>
                </a:solidFill>
                <a:latin typeface="Arial"/>
              </a:rPr>
              <a:t>Italian production hub of the </a:t>
            </a:r>
            <a:r>
              <a:rPr sz="1500" b="1" i="0">
                <a:solidFill>
                  <a:srgbClr val="222222"/>
                </a:solidFill>
                <a:latin typeface="Arial"/>
              </a:rPr>
              <a:t>Hennecke Group</a:t>
            </a:r>
            <a:r>
              <a:rPr sz="1500" b="0" i="0">
                <a:solidFill>
                  <a:srgbClr val="222222"/>
                </a:solidFill>
                <a:latin typeface="Arial"/>
              </a:rPr>
              <a:t> — a world leader in polyurethane (PU) processing machinery.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900"/>
              </a:spcAft>
            </a:pPr>
            <a:r>
              <a:rPr sz="1500" b="0" i="0">
                <a:solidFill>
                  <a:srgbClr val="C8102E"/>
                </a:solidFill>
                <a:latin typeface="Arial"/>
              </a:rPr>
              <a:t>•  </a:t>
            </a:r>
            <a:r>
              <a:rPr sz="1500" b="0" i="0">
                <a:solidFill>
                  <a:srgbClr val="222222"/>
                </a:solidFill>
                <a:latin typeface="Arial"/>
              </a:rPr>
              <a:t>HQ &amp; plant in </a:t>
            </a:r>
            <a:r>
              <a:rPr sz="1500" b="1" i="0">
                <a:solidFill>
                  <a:srgbClr val="222222"/>
                </a:solidFill>
                <a:latin typeface="Arial"/>
              </a:rPr>
              <a:t>Verano Brianza (MB), Italy</a:t>
            </a:r>
            <a:r>
              <a:rPr sz="1500" b="0" i="0">
                <a:solidFill>
                  <a:srgbClr val="222222"/>
                </a:solidFill>
                <a:latin typeface="Arial"/>
              </a:rPr>
              <a:t>; roots in the historic OMS engineering district (since 1986).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900"/>
              </a:spcAft>
            </a:pPr>
            <a:r>
              <a:rPr sz="1500" b="0" i="0">
                <a:solidFill>
                  <a:srgbClr val="C8102E"/>
                </a:solidFill>
                <a:latin typeface="Arial"/>
              </a:rPr>
              <a:t>•  </a:t>
            </a:r>
            <a:r>
              <a:rPr sz="1500" b="1" i="0">
                <a:solidFill>
                  <a:srgbClr val="222222"/>
                </a:solidFill>
                <a:latin typeface="Arial"/>
              </a:rPr>
              <a:t>100% owned by Hennecke GmbH (DE)</a:t>
            </a:r>
            <a:r>
              <a:rPr sz="1500" b="0" i="0">
                <a:solidFill>
                  <a:srgbClr val="222222"/>
                </a:solidFill>
                <a:latin typeface="Arial"/>
              </a:rPr>
              <a:t> — captive subsidiary, subject to direction &amp; coordination.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900"/>
              </a:spcAft>
            </a:pPr>
            <a:r>
              <a:rPr sz="1500" b="0" i="0">
                <a:solidFill>
                  <a:srgbClr val="C8102E"/>
                </a:solidFill>
                <a:latin typeface="Arial"/>
              </a:rPr>
              <a:t>•  </a:t>
            </a:r>
            <a:r>
              <a:rPr sz="1500" b="0" i="0">
                <a:solidFill>
                  <a:srgbClr val="222222"/>
                </a:solidFill>
                <a:latin typeface="Arial"/>
              </a:rPr>
              <a:t>Turnkey lines for flexible &amp; rigid PU foam: slabstock, sandwich panels, refrigeration, automotive, footwear.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900"/>
              </a:spcAft>
            </a:pPr>
            <a:r>
              <a:rPr sz="1500" b="0" i="0">
                <a:solidFill>
                  <a:srgbClr val="C8102E"/>
                </a:solidFill>
                <a:latin typeface="Arial"/>
              </a:rPr>
              <a:t>•  </a:t>
            </a:r>
            <a:r>
              <a:rPr sz="1500" b="0" i="0">
                <a:solidFill>
                  <a:srgbClr val="222222"/>
                </a:solidFill>
                <a:latin typeface="Arial"/>
              </a:rPr>
              <a:t>~166 employees (2024); </a:t>
            </a:r>
            <a:r>
              <a:rPr sz="1500" b="1" i="0">
                <a:solidFill>
                  <a:srgbClr val="222222"/>
                </a:solidFill>
                <a:latin typeface="Arial"/>
              </a:rPr>
              <a:t>ISO 9001 &amp; 14001</a:t>
            </a:r>
            <a:r>
              <a:rPr sz="1500" b="0" i="0">
                <a:solidFill>
                  <a:srgbClr val="222222"/>
                </a:solidFill>
                <a:latin typeface="Arial"/>
              </a:rPr>
              <a:t> certified.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900"/>
              </a:spcAft>
            </a:pPr>
            <a:r>
              <a:rPr sz="1500" b="0" i="0">
                <a:solidFill>
                  <a:srgbClr val="C8102E"/>
                </a:solidFill>
                <a:latin typeface="Arial"/>
              </a:rPr>
              <a:t>•  </a:t>
            </a:r>
            <a:r>
              <a:rPr sz="1500" b="0" i="0">
                <a:solidFill>
                  <a:srgbClr val="222222"/>
                </a:solidFill>
                <a:latin typeface="Arial"/>
              </a:rPr>
              <a:t>Global installed base — recurring aftermarket potential.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63880" y="4457700"/>
            <a:ext cx="5120640" cy="1524000"/>
          </a:xfrm>
          <a:prstGeom prst="rect">
            <a:avLst/>
          </a:prstGeom>
          <a:solidFill>
            <a:srgbClr val="EEF2F7"/>
          </a:solidFill>
          <a:ln w="12700">
            <a:solidFill>
              <a:srgbClr val="CDD8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31520" y="4572000"/>
            <a:ext cx="4785360" cy="133350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500" b="1" i="0">
                <a:solidFill>
                  <a:srgbClr val="1F3A5F"/>
                </a:solidFill>
                <a:latin typeface="Arial"/>
              </a:rPr>
              <a:t>Group context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400" b="0" i="0">
                <a:solidFill>
                  <a:srgbClr val="333333"/>
                </a:solidFill>
                <a:latin typeface="Arial"/>
              </a:rPr>
              <a:t>The parent Hennecke Group was acquired by </a:t>
            </a:r>
            <a:r>
              <a:rPr sz="1400" b="1" i="0">
                <a:solidFill>
                  <a:srgbClr val="333333"/>
                </a:solidFill>
                <a:latin typeface="Arial"/>
              </a:rPr>
              <a:t>Brückner Group SE</a:t>
            </a:r>
            <a:r>
              <a:rPr sz="1400" b="0" i="0">
                <a:solidFill>
                  <a:srgbClr val="333333"/>
                </a:solidFill>
                <a:latin typeface="Arial"/>
              </a:rPr>
              <a:t> (closing 5 Jan 2026), from a fund advised by Capvis.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400" b="0" i="0">
                <a:solidFill>
                  <a:srgbClr val="333333"/>
                </a:solidFill>
                <a:latin typeface="Arial"/>
              </a:rPr>
              <a:t>Hennecke = ~680 employees, ~15 companies, two brands (Hennecke Polyurethane Technology &amp; Hennecke-OMS).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0" i="0">
                <a:solidFill>
                  <a:srgbClr val="999999"/>
                </a:solidFill>
                <a:latin typeface="Arial"/>
              </a:rPr>
              <a:t>Upstream ownership inferred from public sources.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096000" y="975360"/>
            <a:ext cx="4572000" cy="22860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900" b="1" i="0">
                <a:solidFill>
                  <a:srgbClr val="1F3A5F"/>
                </a:solidFill>
                <a:latin typeface="Arial"/>
              </a:rPr>
              <a:t>Key figures 2024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096000" y="1333500"/>
            <a:ext cx="2743200" cy="914400"/>
          </a:xfrm>
          <a:prstGeom prst="rect">
            <a:avLst/>
          </a:prstGeom>
          <a:solidFill>
            <a:srgbClr val="FFFFFF"/>
          </a:solidFill>
          <a:ln w="12700">
            <a:solidFill>
              <a:srgbClr val="DFE4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248400" y="1424940"/>
            <a:ext cx="2514600" cy="76200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400" b="0" i="0">
                <a:solidFill>
                  <a:srgbClr val="999999"/>
                </a:solidFill>
                <a:latin typeface="Arial"/>
              </a:rPr>
              <a:t>Revenue 2024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3400" b="1" i="0">
                <a:solidFill>
                  <a:srgbClr val="1F3A5F"/>
                </a:solidFill>
                <a:latin typeface="Arial"/>
              </a:rPr>
              <a:t>€ 44.2M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0" i="0">
                <a:solidFill>
                  <a:srgbClr val="C8102E"/>
                </a:solidFill>
                <a:latin typeface="Arial"/>
              </a:rPr>
              <a:t>-12% YoY</a:t>
            </a:r>
          </a:p>
        </p:txBody>
      </p:sp>
      <p:sp>
        <p:nvSpPr>
          <p:cNvPr id="17" name="Rectangle 16"/>
          <p:cNvSpPr/>
          <p:nvPr/>
        </p:nvSpPr>
        <p:spPr>
          <a:xfrm>
            <a:off x="9067800" y="1333500"/>
            <a:ext cx="2743200" cy="914400"/>
          </a:xfrm>
          <a:prstGeom prst="rect">
            <a:avLst/>
          </a:prstGeom>
          <a:solidFill>
            <a:srgbClr val="FFFFFF"/>
          </a:solidFill>
          <a:ln w="12700">
            <a:solidFill>
              <a:srgbClr val="DFE4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220200" y="1424940"/>
            <a:ext cx="2514600" cy="76200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400" b="0" i="0">
                <a:solidFill>
                  <a:srgbClr val="999999"/>
                </a:solidFill>
                <a:latin typeface="Arial"/>
              </a:rPr>
              <a:t>EBITDA 2024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3400" b="1" i="0">
                <a:solidFill>
                  <a:srgbClr val="1F3A5F"/>
                </a:solidFill>
                <a:latin typeface="Arial"/>
              </a:rPr>
              <a:t>€ 1.5M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0" i="0">
                <a:solidFill>
                  <a:srgbClr val="C8102E"/>
                </a:solidFill>
                <a:latin typeface="Arial"/>
              </a:rPr>
              <a:t>3.5% margin (vs 7.2% in 2023)</a:t>
            </a:r>
          </a:p>
        </p:txBody>
      </p:sp>
      <p:sp>
        <p:nvSpPr>
          <p:cNvPr id="19" name="Rectangle 18"/>
          <p:cNvSpPr/>
          <p:nvPr/>
        </p:nvSpPr>
        <p:spPr>
          <a:xfrm>
            <a:off x="6096000" y="2400300"/>
            <a:ext cx="2743200" cy="914400"/>
          </a:xfrm>
          <a:prstGeom prst="rect">
            <a:avLst/>
          </a:prstGeom>
          <a:solidFill>
            <a:srgbClr val="FFFFFF"/>
          </a:solidFill>
          <a:ln w="12700">
            <a:solidFill>
              <a:srgbClr val="DFE4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248400" y="2491740"/>
            <a:ext cx="2514600" cy="76200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400" b="0" i="0">
                <a:solidFill>
                  <a:srgbClr val="999999"/>
                </a:solidFill>
                <a:latin typeface="Arial"/>
              </a:rPr>
              <a:t>Liquidity vs bank debt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3000" b="1" i="0">
                <a:solidFill>
                  <a:srgbClr val="1F3A5F"/>
                </a:solidFill>
                <a:latin typeface="Arial"/>
              </a:rPr>
              <a:t>€ 10.4M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0" i="0">
                <a:solidFill>
                  <a:srgbClr val="2E7D4F"/>
                </a:solidFill>
                <a:latin typeface="Arial"/>
              </a:rPr>
              <a:t>cash · vs € 6.9M M/L bank debt</a:t>
            </a:r>
          </a:p>
        </p:txBody>
      </p:sp>
      <p:sp>
        <p:nvSpPr>
          <p:cNvPr id="21" name="Rectangle 20"/>
          <p:cNvSpPr/>
          <p:nvPr/>
        </p:nvSpPr>
        <p:spPr>
          <a:xfrm>
            <a:off x="9067800" y="2400300"/>
            <a:ext cx="2743200" cy="914400"/>
          </a:xfrm>
          <a:prstGeom prst="rect">
            <a:avLst/>
          </a:prstGeom>
          <a:solidFill>
            <a:srgbClr val="FFFFFF"/>
          </a:solidFill>
          <a:ln w="12700">
            <a:solidFill>
              <a:srgbClr val="DFE4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9220200" y="2491740"/>
            <a:ext cx="2514600" cy="76200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400" b="0" i="0">
                <a:solidFill>
                  <a:srgbClr val="999999"/>
                </a:solidFill>
                <a:latin typeface="Arial"/>
              </a:rPr>
              <a:t>Shareholders' equity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3000" b="1" i="0">
                <a:solidFill>
                  <a:srgbClr val="1F3A5F"/>
                </a:solidFill>
                <a:latin typeface="Arial"/>
              </a:rPr>
              <a:t>€ 6.0M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0" i="0">
                <a:solidFill>
                  <a:srgbClr val="999999"/>
                </a:solidFill>
                <a:latin typeface="Arial"/>
              </a:rPr>
              <a:t>thin — 15.5% of total assets</a:t>
            </a:r>
          </a:p>
        </p:txBody>
      </p:sp>
      <p:sp>
        <p:nvSpPr>
          <p:cNvPr id="23" name="Rectangle 22"/>
          <p:cNvSpPr/>
          <p:nvPr/>
        </p:nvSpPr>
        <p:spPr>
          <a:xfrm>
            <a:off x="6096000" y="3581400"/>
            <a:ext cx="5715000" cy="2705100"/>
          </a:xfrm>
          <a:prstGeom prst="rect">
            <a:avLst/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278880" y="3688080"/>
            <a:ext cx="5334000" cy="25908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900" b="1" i="0">
                <a:solidFill>
                  <a:srgbClr val="FFFFFF"/>
                </a:solidFill>
                <a:latin typeface="Arial"/>
              </a:rPr>
              <a:t>Deal angle</a:t>
            </a:r>
          </a:p>
        </p:txBody>
      </p:sp>
      <p:sp>
        <p:nvSpPr>
          <p:cNvPr id="25" name="Rectangle 24"/>
          <p:cNvSpPr/>
          <p:nvPr/>
        </p:nvSpPr>
        <p:spPr>
          <a:xfrm>
            <a:off x="6278880" y="4008120"/>
            <a:ext cx="5349240" cy="7620"/>
          </a:xfrm>
          <a:prstGeom prst="rect">
            <a:avLst/>
          </a:prstGeom>
          <a:solidFill>
            <a:srgbClr val="3A55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6278880" y="4152900"/>
            <a:ext cx="5349240" cy="205740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</a:pPr>
            <a:r>
              <a:rPr sz="1600" b="0" i="0">
                <a:solidFill>
                  <a:srgbClr val="F2C200"/>
                </a:solidFill>
                <a:latin typeface="Arial"/>
              </a:rPr>
              <a:t>•  </a:t>
            </a:r>
            <a:r>
              <a:rPr sz="1600" b="1" i="0">
                <a:solidFill>
                  <a:srgbClr val="FFFFFF"/>
                </a:solidFill>
                <a:latin typeface="Arial"/>
              </a:rPr>
              <a:t>Carve-out</a:t>
            </a:r>
            <a:r>
              <a:rPr sz="1600" b="0" i="0">
                <a:solidFill>
                  <a:srgbClr val="E9EEF5"/>
                </a:solidFill>
                <a:latin typeface="Arial"/>
              </a:rPr>
              <a:t> of the Italian entity, or acquisition of the entire Hennecke Group as a platform.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</a:pPr>
            <a:r>
              <a:rPr sz="1600" b="0" i="0">
                <a:solidFill>
                  <a:srgbClr val="F2C200"/>
                </a:solidFill>
                <a:latin typeface="Arial"/>
              </a:rPr>
              <a:t>•  </a:t>
            </a:r>
            <a:r>
              <a:rPr sz="1600" b="0" i="0">
                <a:solidFill>
                  <a:srgbClr val="E9EEF5"/>
                </a:solidFill>
                <a:latin typeface="Arial"/>
              </a:rPr>
              <a:t>Light balance sheet: low debt, high liquidity, working capital self-financed by customer advances (€10.9M).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</a:pPr>
            <a:r>
              <a:rPr sz="1600" b="0" i="0">
                <a:solidFill>
                  <a:srgbClr val="F2C200"/>
                </a:solidFill>
                <a:latin typeface="Arial"/>
              </a:rPr>
              <a:t>•  </a:t>
            </a:r>
            <a:r>
              <a:rPr sz="1600" b="0" i="0">
                <a:solidFill>
                  <a:srgbClr val="E9EEF5"/>
                </a:solidFill>
                <a:latin typeface="Arial"/>
              </a:rPr>
              <a:t>Shares currently </a:t>
            </a:r>
            <a:r>
              <a:rPr sz="1600" b="1" i="0">
                <a:solidFill>
                  <a:srgbClr val="FFFFFF"/>
                </a:solidFill>
                <a:latin typeface="Arial"/>
              </a:rPr>
              <a:t>pledged</a:t>
            </a:r>
            <a:r>
              <a:rPr sz="1600" b="0" i="0">
                <a:solidFill>
                  <a:srgbClr val="E9EEF5"/>
                </a:solidFill>
                <a:latin typeface="Arial"/>
              </a:rPr>
              <a:t> — to be released on sale.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</a:pPr>
            <a:r>
              <a:rPr sz="1600" b="0" i="0">
                <a:solidFill>
                  <a:srgbClr val="F2C200"/>
                </a:solidFill>
                <a:latin typeface="Arial"/>
              </a:rPr>
              <a:t>•  </a:t>
            </a:r>
            <a:r>
              <a:rPr sz="1600" b="0" i="0">
                <a:solidFill>
                  <a:srgbClr val="E9EEF5"/>
                </a:solidFill>
                <a:latin typeface="Arial"/>
              </a:rPr>
              <a:t>Coface credit score 5/10 (medium-high risk).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0960"/>
          </a:xfrm>
          <a:prstGeom prst="rect">
            <a:avLst/>
          </a:prstGeom>
          <a:solidFill>
            <a:srgbClr val="C810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81000" y="228600"/>
            <a:ext cx="8382000" cy="38100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2600" b="1" i="0">
                <a:solidFill>
                  <a:srgbClr val="1F3A5F"/>
                </a:solidFill>
                <a:latin typeface="Arial"/>
              </a:rPr>
              <a:t>Financial profile 2023–2024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81000" y="594360"/>
            <a:ext cx="9144000" cy="22860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0" i="0">
                <a:solidFill>
                  <a:srgbClr val="666666"/>
                </a:solidFill>
                <a:latin typeface="Arial"/>
              </a:rPr>
              <a:t>Cyclical &amp; project-based business · thin margins · self-financed working capital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763000" y="198120"/>
            <a:ext cx="3048000" cy="16764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0" i="0">
                <a:solidFill>
                  <a:srgbClr val="999999"/>
                </a:solidFill>
                <a:latin typeface="Arial"/>
              </a:rPr>
              <a:t>CONFIDENTIAL · For Board discussion</a:t>
            </a:r>
          </a:p>
        </p:txBody>
      </p:sp>
      <p:sp>
        <p:nvSpPr>
          <p:cNvPr id="6" name="Rectangle 5"/>
          <p:cNvSpPr/>
          <p:nvPr/>
        </p:nvSpPr>
        <p:spPr>
          <a:xfrm>
            <a:off x="381000" y="6537960"/>
            <a:ext cx="11430000" cy="7620"/>
          </a:xfrm>
          <a:prstGeom prst="rect">
            <a:avLst/>
          </a:prstGeom>
          <a:solidFill>
            <a:srgbClr val="DFE4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668000" y="6598920"/>
            <a:ext cx="1143000" cy="15240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1" i="0">
                <a:solidFill>
                  <a:srgbClr val="1F3A5F"/>
                </a:solidFill>
                <a:latin typeface="Arial"/>
              </a:rPr>
              <a:t>2 / 7</a:t>
            </a:r>
          </a:p>
        </p:txBody>
      </p:sp>
      <p:sp>
        <p:nvSpPr>
          <p:cNvPr id="8" name="Rectangle 7"/>
          <p:cNvSpPr/>
          <p:nvPr/>
        </p:nvSpPr>
        <p:spPr>
          <a:xfrm>
            <a:off x="381000" y="952500"/>
            <a:ext cx="5486400" cy="5334000"/>
          </a:xfrm>
          <a:prstGeom prst="rect">
            <a:avLst/>
          </a:prstGeom>
          <a:solidFill>
            <a:srgbClr val="F7F8FA"/>
          </a:solidFill>
          <a:ln w="12700">
            <a:solidFill>
              <a:srgbClr val="DFE4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63880" y="1066800"/>
            <a:ext cx="3810000" cy="21336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700" b="1" i="0">
                <a:solidFill>
                  <a:srgbClr val="1F3A5F"/>
                </a:solidFill>
                <a:latin typeface="Arial"/>
              </a:rPr>
              <a:t>2023 vs 2024 (€ million)</a:t>
            </a:r>
          </a:p>
        </p:txBody>
      </p:sp>
      <p:graphicFrame>
        <p:nvGraphicFramePr>
          <p:cNvPr id="10" name="Chart 9"/>
          <p:cNvGraphicFramePr>
            <a:graphicFrameLocks noGrp="1"/>
          </p:cNvGraphicFramePr>
          <p:nvPr/>
        </p:nvGraphicFramePr>
        <p:xfrm>
          <a:off x="533400" y="1371600"/>
          <a:ext cx="5181600" cy="358140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11" name="Rectangle 10"/>
          <p:cNvSpPr/>
          <p:nvPr/>
        </p:nvSpPr>
        <p:spPr>
          <a:xfrm>
            <a:off x="563880" y="5105400"/>
            <a:ext cx="5074920" cy="990600"/>
          </a:xfrm>
          <a:prstGeom prst="rect">
            <a:avLst/>
          </a:prstGeom>
          <a:solidFill>
            <a:srgbClr val="FDEEF0"/>
          </a:solidFill>
          <a:ln w="12700">
            <a:solidFill>
              <a:srgbClr val="F3C5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16280" y="5196840"/>
            <a:ext cx="4770120" cy="83820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500"/>
              </a:spcAft>
            </a:pPr>
            <a:r>
              <a:rPr sz="1600" b="1" i="0">
                <a:solidFill>
                  <a:srgbClr val="C8102E"/>
                </a:solidFill>
                <a:latin typeface="Arial"/>
              </a:rPr>
              <a:t>EBITDA margin: 7.2% → 3.5%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400" b="0" i="0">
                <a:solidFill>
                  <a:srgbClr val="333333"/>
                </a:solidFill>
                <a:latin typeface="Arial"/>
              </a:rPr>
              <a:t>Drop driven by the WIP swing: change in work-in-progress went from </a:t>
            </a:r>
            <a:r>
              <a:rPr sz="1400" b="1" i="0">
                <a:solidFill>
                  <a:srgbClr val="333333"/>
                </a:solidFill>
                <a:latin typeface="Arial"/>
              </a:rPr>
              <a:t>+€19.3M (2023)</a:t>
            </a:r>
            <a:r>
              <a:rPr sz="1400" b="0" i="0">
                <a:solidFill>
                  <a:srgbClr val="333333"/>
                </a:solidFill>
                <a:latin typeface="Arial"/>
              </a:rPr>
              <a:t> to </a:t>
            </a:r>
            <a:r>
              <a:rPr sz="1400" b="1" i="0">
                <a:solidFill>
                  <a:srgbClr val="333333"/>
                </a:solidFill>
                <a:latin typeface="Arial"/>
              </a:rPr>
              <a:t>-€0.5M (2024)</a:t>
            </a:r>
            <a:r>
              <a:rPr sz="1400" b="0" i="0">
                <a:solidFill>
                  <a:srgbClr val="333333"/>
                </a:solidFill>
                <a:latin typeface="Arial"/>
              </a:rPr>
              <a:t> — a timing effect of long projects, not structural deterioration.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096000" y="952500"/>
            <a:ext cx="5715000" cy="2438400"/>
          </a:xfrm>
          <a:prstGeom prst="rect">
            <a:avLst/>
          </a:prstGeom>
          <a:solidFill>
            <a:srgbClr val="FFFFFF"/>
          </a:solidFill>
          <a:ln w="12700">
            <a:solidFill>
              <a:srgbClr val="DFE4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278880" y="1051560"/>
            <a:ext cx="5334000" cy="21336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700" b="1" i="0">
                <a:solidFill>
                  <a:srgbClr val="1F3A5F"/>
                </a:solidFill>
                <a:latin typeface="Arial"/>
              </a:rPr>
              <a:t>Balance-sheet highlights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278880" y="1310640"/>
            <a:ext cx="5349240" cy="7620"/>
          </a:xfrm>
          <a:prstGeom prst="rect">
            <a:avLst/>
          </a:prstGeom>
          <a:solidFill>
            <a:srgbClr val="DFE4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278880" y="1409700"/>
            <a:ext cx="5349240" cy="190500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1000"/>
              </a:spcAft>
            </a:pPr>
            <a:r>
              <a:rPr sz="1500" b="1" i="0">
                <a:solidFill>
                  <a:srgbClr val="222222"/>
                </a:solidFill>
                <a:latin typeface="Arial"/>
              </a:rPr>
              <a:t>€ 10.4M</a:t>
            </a:r>
            <a:r>
              <a:rPr sz="1500" b="0" i="0">
                <a:solidFill>
                  <a:srgbClr val="222222"/>
                </a:solidFill>
                <a:latin typeface="Arial"/>
              </a:rPr>
              <a:t> cash  ·  vs </a:t>
            </a:r>
            <a:r>
              <a:rPr sz="1500" b="1" i="0">
                <a:solidFill>
                  <a:srgbClr val="222222"/>
                </a:solidFill>
                <a:latin typeface="Arial"/>
              </a:rPr>
              <a:t>€ 6.9M</a:t>
            </a:r>
            <a:r>
              <a:rPr sz="1500" b="0" i="0">
                <a:solidFill>
                  <a:srgbClr val="222222"/>
                </a:solidFill>
                <a:latin typeface="Arial"/>
              </a:rPr>
              <a:t> M/L bank debt (new 2024)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1000"/>
              </a:spcAft>
            </a:pPr>
            <a:r>
              <a:rPr sz="1500" b="1" i="0">
                <a:solidFill>
                  <a:srgbClr val="222222"/>
                </a:solidFill>
                <a:latin typeface="Arial"/>
              </a:rPr>
              <a:t>€ 10.9M</a:t>
            </a:r>
            <a:r>
              <a:rPr sz="1500" b="0" i="0">
                <a:solidFill>
                  <a:srgbClr val="222222"/>
                </a:solidFill>
                <a:latin typeface="Arial"/>
              </a:rPr>
              <a:t> customer advances fund the working capital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1000"/>
              </a:spcAft>
            </a:pPr>
            <a:r>
              <a:rPr sz="1500" b="1" i="0">
                <a:solidFill>
                  <a:srgbClr val="222222"/>
                </a:solidFill>
                <a:latin typeface="Arial"/>
              </a:rPr>
              <a:t>€ 6.0M</a:t>
            </a:r>
            <a:r>
              <a:rPr sz="1500" b="0" i="0">
                <a:solidFill>
                  <a:srgbClr val="222222"/>
                </a:solidFill>
                <a:latin typeface="Arial"/>
              </a:rPr>
              <a:t> equity — thin (15.5% of total assets)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1000"/>
              </a:spcAft>
            </a:pPr>
            <a:r>
              <a:rPr sz="1500" b="1" i="0">
                <a:solidFill>
                  <a:srgbClr val="222222"/>
                </a:solidFill>
                <a:latin typeface="Arial"/>
              </a:rPr>
              <a:t>€ 12.0M</a:t>
            </a:r>
            <a:r>
              <a:rPr sz="1500" b="0" i="0">
                <a:solidFill>
                  <a:srgbClr val="222222"/>
                </a:solidFill>
                <a:latin typeface="Arial"/>
              </a:rPr>
              <a:t> intangibles (goodwill) — impairment watch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1000"/>
              </a:spcAft>
            </a:pPr>
            <a:r>
              <a:rPr sz="1500" b="1" i="0">
                <a:solidFill>
                  <a:srgbClr val="222222"/>
                </a:solidFill>
                <a:latin typeface="Arial"/>
              </a:rPr>
              <a:t>€ 29.5M</a:t>
            </a:r>
            <a:r>
              <a:rPr sz="1500" b="0" i="0">
                <a:solidFill>
                  <a:srgbClr val="222222"/>
                </a:solidFill>
                <a:latin typeface="Arial"/>
              </a:rPr>
              <a:t> total debt — largely operating &amp; intercompany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1000"/>
              </a:spcAft>
            </a:pPr>
            <a:r>
              <a:rPr sz="1500" b="0" i="0">
                <a:solidFill>
                  <a:srgbClr val="222222"/>
                </a:solidFill>
                <a:latin typeface="Arial"/>
              </a:rPr>
              <a:t>Working capital improving: inventory </a:t>
            </a:r>
            <a:r>
              <a:rPr sz="1500" b="1" i="0">
                <a:solidFill>
                  <a:srgbClr val="222222"/>
                </a:solidFill>
                <a:latin typeface="Arial"/>
              </a:rPr>
              <a:t>DIO 119 → 66 days</a:t>
            </a:r>
          </a:p>
        </p:txBody>
      </p:sp>
      <p:sp>
        <p:nvSpPr>
          <p:cNvPr id="17" name="Rectangle 16"/>
          <p:cNvSpPr/>
          <p:nvPr/>
        </p:nvSpPr>
        <p:spPr>
          <a:xfrm>
            <a:off x="6096000" y="3581400"/>
            <a:ext cx="5715000" cy="2705100"/>
          </a:xfrm>
          <a:prstGeom prst="rect">
            <a:avLst/>
          </a:prstGeom>
          <a:solidFill>
            <a:srgbClr val="EEF2F7"/>
          </a:solidFill>
          <a:ln w="12700">
            <a:solidFill>
              <a:srgbClr val="CDD8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278880" y="3672840"/>
            <a:ext cx="5334000" cy="21336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700" b="1" i="0">
                <a:solidFill>
                  <a:srgbClr val="1F3A5F"/>
                </a:solidFill>
                <a:latin typeface="Arial"/>
              </a:rPr>
              <a:t>What the numbers say</a:t>
            </a:r>
          </a:p>
        </p:txBody>
      </p:sp>
      <p:sp>
        <p:nvSpPr>
          <p:cNvPr id="19" name="Rectangle 18"/>
          <p:cNvSpPr/>
          <p:nvPr/>
        </p:nvSpPr>
        <p:spPr>
          <a:xfrm>
            <a:off x="6278880" y="3931920"/>
            <a:ext cx="5349240" cy="7620"/>
          </a:xfrm>
          <a:prstGeom prst="rect">
            <a:avLst/>
          </a:prstGeom>
          <a:solidFill>
            <a:srgbClr val="CDD8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278880" y="4023360"/>
            <a:ext cx="5349240" cy="220980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1100"/>
              </a:spcAft>
            </a:pPr>
            <a:r>
              <a:rPr sz="1500" b="0" i="0">
                <a:solidFill>
                  <a:srgbClr val="1F3A5F"/>
                </a:solidFill>
                <a:latin typeface="Arial"/>
              </a:rPr>
              <a:t>•  </a:t>
            </a:r>
            <a:r>
              <a:rPr sz="1500" b="0" i="0">
                <a:solidFill>
                  <a:srgbClr val="333333"/>
                </a:solidFill>
                <a:latin typeface="Arial"/>
              </a:rPr>
              <a:t>Revenue -12%, value of production -22%: the gap is entirely the WIP timing effect (long-cycle projects).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1100"/>
              </a:spcAft>
            </a:pPr>
            <a:r>
              <a:rPr sz="1500" b="0" i="0">
                <a:solidFill>
                  <a:srgbClr val="1F3A5F"/>
                </a:solidFill>
                <a:latin typeface="Arial"/>
              </a:rPr>
              <a:t>•  </a:t>
            </a:r>
            <a:r>
              <a:rPr sz="1500" b="0" i="0">
                <a:solidFill>
                  <a:srgbClr val="333333"/>
                </a:solidFill>
                <a:latin typeface="Arial"/>
              </a:rPr>
              <a:t>Margin compressed by lower fixed-cost absorption (personnel stable in value, higher in incidence).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1100"/>
              </a:spcAft>
            </a:pPr>
            <a:r>
              <a:rPr sz="1500" b="0" i="0">
                <a:solidFill>
                  <a:srgbClr val="1F3A5F"/>
                </a:solidFill>
                <a:latin typeface="Arial"/>
              </a:rPr>
              <a:t>•  </a:t>
            </a:r>
            <a:r>
              <a:rPr sz="1500" b="0" i="0">
                <a:solidFill>
                  <a:srgbClr val="333333"/>
                </a:solidFill>
                <a:latin typeface="Arial"/>
              </a:rPr>
              <a:t>Net loss of </a:t>
            </a:r>
            <a:r>
              <a:rPr sz="1500" b="1" i="0">
                <a:solidFill>
                  <a:srgbClr val="333333"/>
                </a:solidFill>
                <a:latin typeface="Arial"/>
              </a:rPr>
              <a:t>€ 0.24M</a:t>
            </a:r>
            <a:r>
              <a:rPr sz="1500" b="0" i="0">
                <a:solidFill>
                  <a:srgbClr val="333333"/>
                </a:solidFill>
                <a:latin typeface="Arial"/>
              </a:rPr>
              <a:t> in 2024 (vs +€0.29M in 2023).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1100"/>
              </a:spcAft>
            </a:pPr>
            <a:r>
              <a:rPr sz="1500" b="0" i="0">
                <a:solidFill>
                  <a:srgbClr val="1F3A5F"/>
                </a:solidFill>
                <a:latin typeface="Arial"/>
              </a:rPr>
              <a:t>•  </a:t>
            </a:r>
            <a:r>
              <a:rPr sz="1500" b="1" i="0">
                <a:solidFill>
                  <a:srgbClr val="333333"/>
                </a:solidFill>
                <a:latin typeface="Arial"/>
              </a:rPr>
              <a:t>Normalised EBITDA</a:t>
            </a:r>
            <a:r>
              <a:rPr sz="1500" b="0" i="0">
                <a:solidFill>
                  <a:srgbClr val="333333"/>
                </a:solidFill>
                <a:latin typeface="Arial"/>
              </a:rPr>
              <a:t> (cycle + intercompany adjusted) is the right basis for valuation, not the 2024 point figure.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381000" y="6598920"/>
            <a:ext cx="6858000" cy="15240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0" i="0">
                <a:solidFill>
                  <a:srgbClr val="999999"/>
                </a:solidFill>
                <a:latin typeface="Arial"/>
              </a:rPr>
              <a:t>Source: Coface Full Report (filed FY2023–2024). Amounts in € million.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0960"/>
          </a:xfrm>
          <a:prstGeom prst="rect">
            <a:avLst/>
          </a:prstGeom>
          <a:solidFill>
            <a:srgbClr val="C810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81000" y="228600"/>
            <a:ext cx="8382000" cy="38100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2600" b="1" i="0">
                <a:solidFill>
                  <a:srgbClr val="1F3A5F"/>
                </a:solidFill>
                <a:latin typeface="Arial"/>
              </a:rPr>
              <a:t>P&amp;L recap — cost structure (2023 vs 2024)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81000" y="594360"/>
            <a:ext cx="9144000" cy="22860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0" i="0">
                <a:solidFill>
                  <a:srgbClr val="666666"/>
                </a:solidFill>
                <a:latin typeface="Arial"/>
              </a:rPr>
              <a:t>Value of production split into EBITDA and cost categories · year-on-year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763000" y="198120"/>
            <a:ext cx="3048000" cy="16764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0" i="0">
                <a:solidFill>
                  <a:srgbClr val="999999"/>
                </a:solidFill>
                <a:latin typeface="Arial"/>
              </a:rPr>
              <a:t>CONFIDENTIAL · For Board discussion</a:t>
            </a:r>
          </a:p>
        </p:txBody>
      </p:sp>
      <p:sp>
        <p:nvSpPr>
          <p:cNvPr id="6" name="Rectangle 5"/>
          <p:cNvSpPr/>
          <p:nvPr/>
        </p:nvSpPr>
        <p:spPr>
          <a:xfrm>
            <a:off x="381000" y="6537960"/>
            <a:ext cx="11430000" cy="7620"/>
          </a:xfrm>
          <a:prstGeom prst="rect">
            <a:avLst/>
          </a:prstGeom>
          <a:solidFill>
            <a:srgbClr val="DFE4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668000" y="6598920"/>
            <a:ext cx="1143000" cy="15240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1" i="0">
                <a:solidFill>
                  <a:srgbClr val="1F3A5F"/>
                </a:solidFill>
                <a:latin typeface="Arial"/>
              </a:rPr>
              <a:t>3 / 7</a:t>
            </a:r>
          </a:p>
        </p:txBody>
      </p:sp>
      <p:sp>
        <p:nvSpPr>
          <p:cNvPr id="8" name="Rectangle 7"/>
          <p:cNvSpPr/>
          <p:nvPr/>
        </p:nvSpPr>
        <p:spPr>
          <a:xfrm>
            <a:off x="3657600" y="1257300"/>
            <a:ext cx="990600" cy="320040"/>
          </a:xfrm>
          <a:prstGeom prst="rect">
            <a:avLst/>
          </a:prstGeom>
          <a:solidFill>
            <a:srgbClr val="84BD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3657600" y="1257300"/>
            <a:ext cx="990600" cy="320040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 i="0">
                <a:solidFill>
                  <a:srgbClr val="222222"/>
                </a:solidFill>
                <a:latin typeface="Arial"/>
              </a:rPr>
              <a:t>7.0%</a:t>
            </a:r>
          </a:p>
        </p:txBody>
      </p:sp>
      <p:sp>
        <p:nvSpPr>
          <p:cNvPr id="10" name="Rectangle 9"/>
          <p:cNvSpPr/>
          <p:nvPr/>
        </p:nvSpPr>
        <p:spPr>
          <a:xfrm>
            <a:off x="3657600" y="1577340"/>
            <a:ext cx="990600" cy="2103120"/>
          </a:xfrm>
          <a:prstGeom prst="rect">
            <a:avLst/>
          </a:prstGeom>
          <a:solidFill>
            <a:srgbClr val="F2A1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3657600" y="1577340"/>
            <a:ext cx="990600" cy="2103120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 i="0">
                <a:solidFill>
                  <a:srgbClr val="222222"/>
                </a:solidFill>
                <a:latin typeface="Arial"/>
              </a:rPr>
              <a:t>46.0%</a:t>
            </a:r>
          </a:p>
        </p:txBody>
      </p:sp>
      <p:sp>
        <p:nvSpPr>
          <p:cNvPr id="12" name="Rectangle 11"/>
          <p:cNvSpPr/>
          <p:nvPr/>
        </p:nvSpPr>
        <p:spPr>
          <a:xfrm>
            <a:off x="3657600" y="3680460"/>
            <a:ext cx="990600" cy="1056132"/>
          </a:xfrm>
          <a:prstGeom prst="rect">
            <a:avLst/>
          </a:prstGeom>
          <a:solidFill>
            <a:srgbClr val="D953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3657600" y="3680460"/>
            <a:ext cx="990600" cy="1056132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 i="0">
                <a:solidFill>
                  <a:srgbClr val="FFFFFF"/>
                </a:solidFill>
                <a:latin typeface="Arial"/>
              </a:rPr>
              <a:t>23.1%</a:t>
            </a:r>
          </a:p>
        </p:txBody>
      </p:sp>
      <p:sp>
        <p:nvSpPr>
          <p:cNvPr id="14" name="Rectangle 13"/>
          <p:cNvSpPr/>
          <p:nvPr/>
        </p:nvSpPr>
        <p:spPr>
          <a:xfrm>
            <a:off x="3657600" y="4736592"/>
            <a:ext cx="990600" cy="909828"/>
          </a:xfrm>
          <a:prstGeom prst="rect">
            <a:avLst/>
          </a:prstGeom>
          <a:solidFill>
            <a:srgbClr val="3C7D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3657600" y="4736592"/>
            <a:ext cx="990600" cy="909828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 i="0">
                <a:solidFill>
                  <a:srgbClr val="FFFFFF"/>
                </a:solidFill>
                <a:latin typeface="Arial"/>
              </a:rPr>
              <a:t>19.9%</a:t>
            </a:r>
          </a:p>
        </p:txBody>
      </p:sp>
      <p:sp>
        <p:nvSpPr>
          <p:cNvPr id="16" name="Rectangle 15"/>
          <p:cNvSpPr/>
          <p:nvPr/>
        </p:nvSpPr>
        <p:spPr>
          <a:xfrm>
            <a:off x="3657600" y="5646420"/>
            <a:ext cx="990600" cy="173736"/>
          </a:xfrm>
          <a:prstGeom prst="rect">
            <a:avLst/>
          </a:prstGeom>
          <a:solidFill>
            <a:srgbClr val="8C5A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3657600" y="5646420"/>
            <a:ext cx="990600" cy="173736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1" i="0">
                <a:solidFill>
                  <a:srgbClr val="FFFFFF"/>
                </a:solidFill>
                <a:latin typeface="Arial"/>
              </a:rPr>
              <a:t>3.8%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0" y="5820156"/>
            <a:ext cx="990600" cy="13716"/>
          </a:xfrm>
          <a:prstGeom prst="rect">
            <a:avLst/>
          </a:prstGeom>
          <a:solidFill>
            <a:srgbClr val="BFBFB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5486400" y="1257300"/>
            <a:ext cx="990600" cy="173736"/>
          </a:xfrm>
          <a:prstGeom prst="rect">
            <a:avLst/>
          </a:prstGeom>
          <a:solidFill>
            <a:srgbClr val="84BD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5486400" y="1257300"/>
            <a:ext cx="990600" cy="173736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1" i="0">
                <a:solidFill>
                  <a:srgbClr val="222222"/>
                </a:solidFill>
                <a:latin typeface="Arial"/>
              </a:rPr>
              <a:t>3.8%</a:t>
            </a:r>
          </a:p>
        </p:txBody>
      </p:sp>
      <p:sp>
        <p:nvSpPr>
          <p:cNvPr id="21" name="Rectangle 20"/>
          <p:cNvSpPr/>
          <p:nvPr/>
        </p:nvSpPr>
        <p:spPr>
          <a:xfrm>
            <a:off x="5486400" y="1431036"/>
            <a:ext cx="990600" cy="1755648"/>
          </a:xfrm>
          <a:prstGeom prst="rect">
            <a:avLst/>
          </a:prstGeom>
          <a:solidFill>
            <a:srgbClr val="F2A1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486400" y="1431036"/>
            <a:ext cx="990600" cy="1755648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 i="0">
                <a:solidFill>
                  <a:srgbClr val="222222"/>
                </a:solidFill>
                <a:latin typeface="Arial"/>
              </a:rPr>
              <a:t>38.4%</a:t>
            </a:r>
          </a:p>
        </p:txBody>
      </p:sp>
      <p:sp>
        <p:nvSpPr>
          <p:cNvPr id="23" name="Rectangle 22"/>
          <p:cNvSpPr/>
          <p:nvPr/>
        </p:nvSpPr>
        <p:spPr>
          <a:xfrm>
            <a:off x="5486400" y="3186684"/>
            <a:ext cx="990600" cy="1385316"/>
          </a:xfrm>
          <a:prstGeom prst="rect">
            <a:avLst/>
          </a:prstGeom>
          <a:solidFill>
            <a:srgbClr val="D953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5486400" y="3186684"/>
            <a:ext cx="990600" cy="1385316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 i="0">
                <a:solidFill>
                  <a:srgbClr val="FFFFFF"/>
                </a:solidFill>
                <a:latin typeface="Arial"/>
              </a:rPr>
              <a:t>30.3%</a:t>
            </a:r>
          </a:p>
        </p:txBody>
      </p:sp>
      <p:sp>
        <p:nvSpPr>
          <p:cNvPr id="25" name="Rectangle 24"/>
          <p:cNvSpPr/>
          <p:nvPr/>
        </p:nvSpPr>
        <p:spPr>
          <a:xfrm>
            <a:off x="5486400" y="4572000"/>
            <a:ext cx="990600" cy="1042416"/>
          </a:xfrm>
          <a:prstGeom prst="rect">
            <a:avLst/>
          </a:prstGeom>
          <a:solidFill>
            <a:srgbClr val="3C7D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5486400" y="4572000"/>
            <a:ext cx="990600" cy="1042416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 i="0">
                <a:solidFill>
                  <a:srgbClr val="FFFFFF"/>
                </a:solidFill>
                <a:latin typeface="Arial"/>
              </a:rPr>
              <a:t>22.8%</a:t>
            </a:r>
          </a:p>
        </p:txBody>
      </p:sp>
      <p:sp>
        <p:nvSpPr>
          <p:cNvPr id="27" name="Rectangle 26"/>
          <p:cNvSpPr/>
          <p:nvPr/>
        </p:nvSpPr>
        <p:spPr>
          <a:xfrm>
            <a:off x="5486400" y="5614416"/>
            <a:ext cx="990600" cy="192024"/>
          </a:xfrm>
          <a:prstGeom prst="rect">
            <a:avLst/>
          </a:prstGeom>
          <a:solidFill>
            <a:srgbClr val="8C5A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5486400" y="5614416"/>
            <a:ext cx="990600" cy="192024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1" i="0">
                <a:solidFill>
                  <a:srgbClr val="FFFFFF"/>
                </a:solidFill>
                <a:latin typeface="Arial"/>
              </a:rPr>
              <a:t>4.2%</a:t>
            </a:r>
          </a:p>
        </p:txBody>
      </p:sp>
      <p:sp>
        <p:nvSpPr>
          <p:cNvPr id="29" name="Rectangle 28"/>
          <p:cNvSpPr/>
          <p:nvPr/>
        </p:nvSpPr>
        <p:spPr>
          <a:xfrm>
            <a:off x="5486400" y="5806440"/>
            <a:ext cx="990600" cy="22860"/>
          </a:xfrm>
          <a:prstGeom prst="rect">
            <a:avLst/>
          </a:prstGeom>
          <a:solidFill>
            <a:srgbClr val="BFBFB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30" name="Connector 29"/>
          <p:cNvCxnSpPr/>
          <p:nvPr/>
        </p:nvCxnSpPr>
        <p:spPr>
          <a:xfrm>
            <a:off x="4648200" y="1257300"/>
            <a:ext cx="838200" cy="0"/>
          </a:xfrm>
          <a:prstGeom prst="line">
            <a:avLst/>
          </a:prstGeom>
          <a:ln w="9525">
            <a:solidFill>
              <a:srgbClr val="D9DEE6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1" name="Connector 30"/>
          <p:cNvCxnSpPr/>
          <p:nvPr/>
        </p:nvCxnSpPr>
        <p:spPr>
          <a:xfrm flipV="1">
            <a:off x="4648200" y="1431036"/>
            <a:ext cx="838200" cy="146304"/>
          </a:xfrm>
          <a:prstGeom prst="line">
            <a:avLst/>
          </a:prstGeom>
          <a:ln w="9525">
            <a:solidFill>
              <a:srgbClr val="D9DEE6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2" name="Connector 31"/>
          <p:cNvCxnSpPr/>
          <p:nvPr/>
        </p:nvCxnSpPr>
        <p:spPr>
          <a:xfrm flipV="1">
            <a:off x="4648200" y="3186684"/>
            <a:ext cx="838200" cy="493776"/>
          </a:xfrm>
          <a:prstGeom prst="line">
            <a:avLst/>
          </a:prstGeom>
          <a:ln w="9525">
            <a:solidFill>
              <a:srgbClr val="D9DEE6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3" name="Connector 32"/>
          <p:cNvCxnSpPr/>
          <p:nvPr/>
        </p:nvCxnSpPr>
        <p:spPr>
          <a:xfrm flipV="1">
            <a:off x="4648200" y="4572000"/>
            <a:ext cx="838200" cy="164592"/>
          </a:xfrm>
          <a:prstGeom prst="line">
            <a:avLst/>
          </a:prstGeom>
          <a:ln w="9525">
            <a:solidFill>
              <a:srgbClr val="D9DEE6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4" name="Connector 33"/>
          <p:cNvCxnSpPr/>
          <p:nvPr/>
        </p:nvCxnSpPr>
        <p:spPr>
          <a:xfrm flipV="1">
            <a:off x="4648200" y="5614416"/>
            <a:ext cx="838200" cy="32004"/>
          </a:xfrm>
          <a:prstGeom prst="line">
            <a:avLst/>
          </a:prstGeom>
          <a:ln w="9525">
            <a:solidFill>
              <a:srgbClr val="D9DEE6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5" name="Connector 34"/>
          <p:cNvCxnSpPr/>
          <p:nvPr/>
        </p:nvCxnSpPr>
        <p:spPr>
          <a:xfrm flipV="1">
            <a:off x="4648200" y="5806440"/>
            <a:ext cx="838200" cy="13716"/>
          </a:xfrm>
          <a:prstGeom prst="line">
            <a:avLst/>
          </a:prstGeom>
          <a:ln w="9525">
            <a:solidFill>
              <a:srgbClr val="D9DEE6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6" name="Connector 35"/>
          <p:cNvCxnSpPr/>
          <p:nvPr/>
        </p:nvCxnSpPr>
        <p:spPr>
          <a:xfrm flipV="1">
            <a:off x="4648200" y="5829300"/>
            <a:ext cx="838200" cy="4572"/>
          </a:xfrm>
          <a:prstGeom prst="line">
            <a:avLst/>
          </a:prstGeom>
          <a:ln w="9525">
            <a:solidFill>
              <a:srgbClr val="D9DEE6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7" name="TextBox 36"/>
          <p:cNvSpPr txBox="1"/>
          <p:nvPr/>
        </p:nvSpPr>
        <p:spPr>
          <a:xfrm>
            <a:off x="3505200" y="5894832"/>
            <a:ext cx="1295400" cy="18288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500" b="1" i="0">
                <a:solidFill>
                  <a:srgbClr val="1F3A5F"/>
                </a:solidFill>
                <a:latin typeface="Arial"/>
              </a:rPr>
              <a:t>2023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5334000" y="5890260"/>
            <a:ext cx="1295400" cy="18288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500" b="1" i="0">
                <a:solidFill>
                  <a:srgbClr val="1F3A5F"/>
                </a:solidFill>
                <a:latin typeface="Arial"/>
              </a:rPr>
              <a:t>2024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2667000" y="1242060"/>
            <a:ext cx="914400" cy="16764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 i="0">
                <a:solidFill>
                  <a:srgbClr val="999999"/>
                </a:solidFill>
                <a:latin typeface="Arial"/>
              </a:rPr>
              <a:t>% of value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2667000" y="1379220"/>
            <a:ext cx="914400" cy="16764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 i="0">
                <a:solidFill>
                  <a:srgbClr val="999999"/>
                </a:solidFill>
                <a:latin typeface="Arial"/>
              </a:rPr>
              <a:t>of production</a:t>
            </a:r>
          </a:p>
        </p:txBody>
      </p:sp>
      <p:sp>
        <p:nvSpPr>
          <p:cNvPr id="41" name="Rectangle 40"/>
          <p:cNvSpPr/>
          <p:nvPr/>
        </p:nvSpPr>
        <p:spPr>
          <a:xfrm>
            <a:off x="7315200" y="1447800"/>
            <a:ext cx="4495800" cy="2286000"/>
          </a:xfrm>
          <a:prstGeom prst="rect">
            <a:avLst/>
          </a:prstGeom>
          <a:solidFill>
            <a:srgbClr val="F7F8FA"/>
          </a:solidFill>
          <a:ln w="12700">
            <a:solidFill>
              <a:srgbClr val="DFE4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7482840" y="1524000"/>
            <a:ext cx="1981200" cy="1981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1" i="0">
                <a:solidFill>
                  <a:srgbClr val="666666"/>
                </a:solidFill>
                <a:latin typeface="Arial"/>
              </a:rPr>
              <a:t>Category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9525000" y="1524000"/>
            <a:ext cx="731520" cy="1981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1" i="0">
                <a:solidFill>
                  <a:srgbClr val="666666"/>
                </a:solidFill>
                <a:latin typeface="Arial"/>
              </a:rPr>
              <a:t>2023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10302240" y="1524000"/>
            <a:ext cx="731520" cy="1981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1" i="0">
                <a:solidFill>
                  <a:srgbClr val="666666"/>
                </a:solidFill>
                <a:latin typeface="Arial"/>
              </a:rPr>
              <a:t>2024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11079480" y="1524000"/>
            <a:ext cx="685800" cy="1981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1" i="0">
                <a:solidFill>
                  <a:srgbClr val="666666"/>
                </a:solidFill>
                <a:latin typeface="Arial"/>
              </a:rPr>
              <a:t>Δ pp</a:t>
            </a:r>
          </a:p>
        </p:txBody>
      </p:sp>
      <p:sp>
        <p:nvSpPr>
          <p:cNvPr id="46" name="Rectangle 45"/>
          <p:cNvSpPr/>
          <p:nvPr/>
        </p:nvSpPr>
        <p:spPr>
          <a:xfrm>
            <a:off x="7482840" y="1752600"/>
            <a:ext cx="4282440" cy="7620"/>
          </a:xfrm>
          <a:prstGeom prst="rect">
            <a:avLst/>
          </a:prstGeom>
          <a:solidFill>
            <a:srgbClr val="DFE4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7482840" y="1859280"/>
            <a:ext cx="2042160" cy="213360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0" i="0">
                <a:solidFill>
                  <a:srgbClr val="84BD00"/>
                </a:solidFill>
                <a:latin typeface="Arial"/>
              </a:rPr>
              <a:t>■ </a:t>
            </a:r>
            <a:r>
              <a:rPr sz="1200" b="1" i="0">
                <a:solidFill>
                  <a:srgbClr val="222222"/>
                </a:solidFill>
                <a:latin typeface="Arial"/>
              </a:rPr>
              <a:t>EBITDA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9525000" y="1859280"/>
            <a:ext cx="731520" cy="213360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0" i="0">
                <a:solidFill>
                  <a:srgbClr val="333333"/>
                </a:solidFill>
                <a:latin typeface="Arial"/>
              </a:rPr>
              <a:t>7.0%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0302240" y="1859280"/>
            <a:ext cx="731520" cy="213360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0" i="0">
                <a:solidFill>
                  <a:srgbClr val="333333"/>
                </a:solidFill>
                <a:latin typeface="Arial"/>
              </a:rPr>
              <a:t>3.8%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11079480" y="1859280"/>
            <a:ext cx="685800" cy="213360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1" i="0">
                <a:solidFill>
                  <a:srgbClr val="C8102E"/>
                </a:solidFill>
                <a:latin typeface="Arial"/>
              </a:rPr>
              <a:t>-3.2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7482840" y="2133600"/>
            <a:ext cx="2042160" cy="213360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0" i="0">
                <a:solidFill>
                  <a:srgbClr val="F2A100"/>
                </a:solidFill>
                <a:latin typeface="Arial"/>
              </a:rPr>
              <a:t>■ </a:t>
            </a:r>
            <a:r>
              <a:rPr sz="1200" b="1" i="0">
                <a:solidFill>
                  <a:srgbClr val="222222"/>
                </a:solidFill>
                <a:latin typeface="Arial"/>
              </a:rPr>
              <a:t>Materials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9525000" y="2133600"/>
            <a:ext cx="731520" cy="213360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0" i="0">
                <a:solidFill>
                  <a:srgbClr val="333333"/>
                </a:solidFill>
                <a:latin typeface="Arial"/>
              </a:rPr>
              <a:t>46.0%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10302240" y="2133600"/>
            <a:ext cx="731520" cy="213360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0" i="0">
                <a:solidFill>
                  <a:srgbClr val="333333"/>
                </a:solidFill>
                <a:latin typeface="Arial"/>
              </a:rPr>
              <a:t>38.4%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11079480" y="2133600"/>
            <a:ext cx="685800" cy="213360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1" i="0">
                <a:solidFill>
                  <a:srgbClr val="2E7D4F"/>
                </a:solidFill>
                <a:latin typeface="Arial"/>
              </a:rPr>
              <a:t>-7.6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7482840" y="2407920"/>
            <a:ext cx="2042160" cy="213360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0" i="0">
                <a:solidFill>
                  <a:srgbClr val="D9531E"/>
                </a:solidFill>
                <a:latin typeface="Arial"/>
              </a:rPr>
              <a:t>■ </a:t>
            </a:r>
            <a:r>
              <a:rPr sz="1200" b="1" i="0">
                <a:solidFill>
                  <a:srgbClr val="222222"/>
                </a:solidFill>
                <a:latin typeface="Arial"/>
              </a:rPr>
              <a:t>Personnel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9525000" y="2407920"/>
            <a:ext cx="731520" cy="213360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0" i="0">
                <a:solidFill>
                  <a:srgbClr val="333333"/>
                </a:solidFill>
                <a:latin typeface="Arial"/>
              </a:rPr>
              <a:t>23.1%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10302240" y="2407920"/>
            <a:ext cx="731520" cy="213360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0" i="0">
                <a:solidFill>
                  <a:srgbClr val="333333"/>
                </a:solidFill>
                <a:latin typeface="Arial"/>
              </a:rPr>
              <a:t>30.3%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11079480" y="2407920"/>
            <a:ext cx="685800" cy="213360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1" i="0">
                <a:solidFill>
                  <a:srgbClr val="C8102E"/>
                </a:solidFill>
                <a:latin typeface="Arial"/>
              </a:rPr>
              <a:t>+7.2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7482840" y="2682240"/>
            <a:ext cx="2042160" cy="213360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0" i="0">
                <a:solidFill>
                  <a:srgbClr val="3C7DA6"/>
                </a:solidFill>
                <a:latin typeface="Arial"/>
              </a:rPr>
              <a:t>■ </a:t>
            </a:r>
            <a:r>
              <a:rPr sz="1200" b="1" i="0">
                <a:solidFill>
                  <a:srgbClr val="222222"/>
                </a:solidFill>
                <a:latin typeface="Arial"/>
              </a:rPr>
              <a:t>Services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9525000" y="2682240"/>
            <a:ext cx="731520" cy="213360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0" i="0">
                <a:solidFill>
                  <a:srgbClr val="333333"/>
                </a:solidFill>
                <a:latin typeface="Arial"/>
              </a:rPr>
              <a:t>19.9%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10302240" y="2682240"/>
            <a:ext cx="731520" cy="213360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0" i="0">
                <a:solidFill>
                  <a:srgbClr val="333333"/>
                </a:solidFill>
                <a:latin typeface="Arial"/>
              </a:rPr>
              <a:t>22.8%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11079480" y="2682240"/>
            <a:ext cx="685800" cy="213360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1" i="0">
                <a:solidFill>
                  <a:srgbClr val="C8102E"/>
                </a:solidFill>
                <a:latin typeface="Arial"/>
              </a:rPr>
              <a:t>+2.9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7482840" y="2956560"/>
            <a:ext cx="2042160" cy="213360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0" i="0">
                <a:solidFill>
                  <a:srgbClr val="8C5A2B"/>
                </a:solidFill>
                <a:latin typeface="Arial"/>
              </a:rPr>
              <a:t>■ </a:t>
            </a:r>
            <a:r>
              <a:rPr sz="1200" b="1" i="0">
                <a:solidFill>
                  <a:srgbClr val="222222"/>
                </a:solidFill>
                <a:latin typeface="Arial"/>
              </a:rPr>
              <a:t>Lease &amp; rentals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9525000" y="2956560"/>
            <a:ext cx="731520" cy="213360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0" i="0">
                <a:solidFill>
                  <a:srgbClr val="333333"/>
                </a:solidFill>
                <a:latin typeface="Arial"/>
              </a:rPr>
              <a:t>3.8%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10302240" y="2956560"/>
            <a:ext cx="731520" cy="213360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0" i="0">
                <a:solidFill>
                  <a:srgbClr val="333333"/>
                </a:solidFill>
                <a:latin typeface="Arial"/>
              </a:rPr>
              <a:t>4.2%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11079480" y="2956560"/>
            <a:ext cx="685800" cy="213360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1" i="0">
                <a:solidFill>
                  <a:srgbClr val="C8102E"/>
                </a:solidFill>
                <a:latin typeface="Arial"/>
              </a:rPr>
              <a:t>+0.4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7482840" y="3230880"/>
            <a:ext cx="2042160" cy="213360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0" i="0">
                <a:solidFill>
                  <a:srgbClr val="BFBFBF"/>
                </a:solidFill>
                <a:latin typeface="Arial"/>
              </a:rPr>
              <a:t>■ </a:t>
            </a:r>
            <a:r>
              <a:rPr sz="1200" b="1" i="0">
                <a:solidFill>
                  <a:srgbClr val="222222"/>
                </a:solidFill>
                <a:latin typeface="Arial"/>
              </a:rPr>
              <a:t>Other op. costs</a:t>
            </a:r>
          </a:p>
        </p:txBody>
      </p:sp>
      <p:sp>
        <p:nvSpPr>
          <p:cNvPr id="68" name="TextBox 67"/>
          <p:cNvSpPr txBox="1"/>
          <p:nvPr/>
        </p:nvSpPr>
        <p:spPr>
          <a:xfrm>
            <a:off x="9525000" y="3230880"/>
            <a:ext cx="731520" cy="213360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0" i="0">
                <a:solidFill>
                  <a:srgbClr val="333333"/>
                </a:solidFill>
                <a:latin typeface="Arial"/>
              </a:rPr>
              <a:t>0.3%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10302240" y="3230880"/>
            <a:ext cx="731520" cy="213360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0" i="0">
                <a:solidFill>
                  <a:srgbClr val="333333"/>
                </a:solidFill>
                <a:latin typeface="Arial"/>
              </a:rPr>
              <a:t>0.5%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11079480" y="3230880"/>
            <a:ext cx="685800" cy="213360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1" i="0">
                <a:solidFill>
                  <a:srgbClr val="C8102E"/>
                </a:solidFill>
                <a:latin typeface="Arial"/>
              </a:rPr>
              <a:t>+0.2</a:t>
            </a:r>
          </a:p>
        </p:txBody>
      </p:sp>
      <p:sp>
        <p:nvSpPr>
          <p:cNvPr id="71" name="Rectangle 70"/>
          <p:cNvSpPr/>
          <p:nvPr/>
        </p:nvSpPr>
        <p:spPr>
          <a:xfrm>
            <a:off x="7315200" y="3848100"/>
            <a:ext cx="4495800" cy="1143000"/>
          </a:xfrm>
          <a:prstGeom prst="rect">
            <a:avLst/>
          </a:prstGeom>
          <a:solidFill>
            <a:srgbClr val="EEF2F7"/>
          </a:solidFill>
          <a:ln w="12700">
            <a:solidFill>
              <a:srgbClr val="CDD8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2" name="TextBox 71"/>
          <p:cNvSpPr txBox="1"/>
          <p:nvPr/>
        </p:nvSpPr>
        <p:spPr>
          <a:xfrm>
            <a:off x="7482840" y="3939540"/>
            <a:ext cx="4160520" cy="99060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400" b="1" i="0">
                <a:solidFill>
                  <a:srgbClr val="1F3A5F"/>
                </a:solidFill>
                <a:latin typeface="Arial"/>
              </a:rPr>
              <a:t>Fixed-cost absorption is the story: </a:t>
            </a:r>
            <a:r>
              <a:rPr sz="1400" b="0" i="0">
                <a:solidFill>
                  <a:srgbClr val="333333"/>
                </a:solidFill>
                <a:latin typeface="Arial"/>
              </a:rPr>
              <a:t>personnel rises </a:t>
            </a:r>
            <a:r>
              <a:rPr sz="1400" b="1" i="0">
                <a:solidFill>
                  <a:srgbClr val="333333"/>
                </a:solidFill>
                <a:latin typeface="Arial"/>
              </a:rPr>
              <a:t>+7pp</a:t>
            </a:r>
            <a:r>
              <a:rPr sz="1400" b="0" i="0">
                <a:solidFill>
                  <a:srgbClr val="333333"/>
                </a:solidFill>
                <a:latin typeface="Arial"/>
              </a:rPr>
              <a:t> of output (stable in €, heavier on lower volume) while materials fall </a:t>
            </a:r>
            <a:r>
              <a:rPr sz="1400" b="1" i="0">
                <a:solidFill>
                  <a:srgbClr val="333333"/>
                </a:solidFill>
                <a:latin typeface="Arial"/>
              </a:rPr>
              <a:t>-8pp</a:t>
            </a:r>
            <a:r>
              <a:rPr sz="1400" b="0" i="0">
                <a:solidFill>
                  <a:srgbClr val="333333"/>
                </a:solidFill>
                <a:latin typeface="Arial"/>
              </a:rPr>
              <a:t> (variable) — net, EBITDA compresses from 7.0% to 3.8%.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0" i="1">
                <a:solidFill>
                  <a:srgbClr val="666666"/>
                </a:solidFill>
                <a:latin typeface="Arial"/>
              </a:rPr>
              <a:t>Read with the project cycle: 2024 value of production is lower as the 2023 WIP build-up unwinds.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381000" y="6553200"/>
            <a:ext cx="10134600" cy="22860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0" i="0">
                <a:solidFill>
                  <a:srgbClr val="999999"/>
                </a:solidFill>
                <a:latin typeface="Arial"/>
              </a:rPr>
              <a:t>% of value of production (€52.0m 2023 / €40.7m 2024). 2023 base inflated by WIP build-up (+€19.3m); on a revenue basis EBITDA margin was 7.2% (2023) / 3.5% (2024). Source: Coface reclassified P&amp;L.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0960"/>
          </a:xfrm>
          <a:prstGeom prst="rect">
            <a:avLst/>
          </a:prstGeom>
          <a:solidFill>
            <a:srgbClr val="C810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81000" y="228600"/>
            <a:ext cx="8382000" cy="38100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2600" b="1" i="0">
                <a:solidFill>
                  <a:srgbClr val="1F3A5F"/>
                </a:solidFill>
                <a:latin typeface="Arial"/>
              </a:rPr>
              <a:t>Who buys from Hennecke — B2B customer map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81000" y="594360"/>
            <a:ext cx="9144000" cy="22860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0" i="0">
                <a:solidFill>
                  <a:srgbClr val="666666"/>
                </a:solidFill>
                <a:latin typeface="Arial"/>
              </a:rPr>
              <a:t>Customers are industrial manufacturers that process polyurethane · by application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763000" y="198120"/>
            <a:ext cx="3048000" cy="16764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0" i="0">
                <a:solidFill>
                  <a:srgbClr val="999999"/>
                </a:solidFill>
                <a:latin typeface="Arial"/>
              </a:rPr>
              <a:t>CONFIDENTIAL · For Board discussion</a:t>
            </a:r>
          </a:p>
        </p:txBody>
      </p:sp>
      <p:sp>
        <p:nvSpPr>
          <p:cNvPr id="6" name="Rectangle 5"/>
          <p:cNvSpPr/>
          <p:nvPr/>
        </p:nvSpPr>
        <p:spPr>
          <a:xfrm>
            <a:off x="381000" y="6537960"/>
            <a:ext cx="11430000" cy="7620"/>
          </a:xfrm>
          <a:prstGeom prst="rect">
            <a:avLst/>
          </a:prstGeom>
          <a:solidFill>
            <a:srgbClr val="DFE4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668000" y="6598920"/>
            <a:ext cx="1143000" cy="15240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1" i="0">
                <a:solidFill>
                  <a:srgbClr val="1F3A5F"/>
                </a:solidFill>
                <a:latin typeface="Arial"/>
              </a:rPr>
              <a:t>4 / 7</a:t>
            </a:r>
          </a:p>
        </p:txBody>
      </p:sp>
      <p:sp>
        <p:nvSpPr>
          <p:cNvPr id="8" name="Rectangle 7"/>
          <p:cNvSpPr/>
          <p:nvPr/>
        </p:nvSpPr>
        <p:spPr>
          <a:xfrm>
            <a:off x="381000" y="1280160"/>
            <a:ext cx="2743200" cy="1920240"/>
          </a:xfrm>
          <a:prstGeom prst="rect">
            <a:avLst/>
          </a:prstGeom>
          <a:solidFill>
            <a:srgbClr val="FFFFFF"/>
          </a:solidFill>
          <a:ln w="12700">
            <a:solidFill>
              <a:srgbClr val="DFE4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381000" y="1280160"/>
            <a:ext cx="2743200" cy="320040"/>
          </a:xfrm>
          <a:prstGeom prst="rect">
            <a:avLst/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02920" y="1280160"/>
            <a:ext cx="2575560" cy="320040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 i="0">
                <a:solidFill>
                  <a:srgbClr val="FFFFFF"/>
                </a:solidFill>
                <a:latin typeface="Arial"/>
              </a:rPr>
              <a:t>1 · Building insulation — sandwich panels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02920" y="1676400"/>
            <a:ext cx="2514600" cy="144780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150" b="0" i="1">
                <a:solidFill>
                  <a:srgbClr val="666666"/>
                </a:solidFill>
                <a:latin typeface="Arial"/>
              </a:rPr>
              <a:t>Continuous &amp; discontinuous panel makers (roofing, façades, cold rooms).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1" i="0">
                <a:solidFill>
                  <a:srgbClr val="222222"/>
                </a:solidFill>
                <a:latin typeface="Arial"/>
              </a:rPr>
              <a:t>e.g. </a:t>
            </a:r>
            <a:r>
              <a:rPr sz="1150" b="0" i="0">
                <a:solidFill>
                  <a:srgbClr val="222222"/>
                </a:solidFill>
                <a:latin typeface="Arial"/>
              </a:rPr>
              <a:t>Kingspan, Isopan / Manni, Metecno, Brucha, Trimo, Tata Steel</a:t>
            </a:r>
          </a:p>
        </p:txBody>
      </p:sp>
      <p:sp>
        <p:nvSpPr>
          <p:cNvPr id="12" name="Rectangle 11"/>
          <p:cNvSpPr/>
          <p:nvPr/>
        </p:nvSpPr>
        <p:spPr>
          <a:xfrm>
            <a:off x="3276600" y="1280160"/>
            <a:ext cx="2743200" cy="1920240"/>
          </a:xfrm>
          <a:prstGeom prst="rect">
            <a:avLst/>
          </a:prstGeom>
          <a:solidFill>
            <a:srgbClr val="FFFFFF"/>
          </a:solidFill>
          <a:ln w="12700">
            <a:solidFill>
              <a:srgbClr val="DFE4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3276600" y="1280160"/>
            <a:ext cx="2743200" cy="320040"/>
          </a:xfrm>
          <a:prstGeom prst="rect">
            <a:avLst/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3398520" y="1280160"/>
            <a:ext cx="2575560" cy="320040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 i="0">
                <a:solidFill>
                  <a:srgbClr val="FFFFFF"/>
                </a:solidFill>
                <a:latin typeface="Arial"/>
              </a:rPr>
              <a:t>2 · Refrigeration &amp; cold chain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398520" y="1676400"/>
            <a:ext cx="2514600" cy="144780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150" b="0" i="1">
                <a:solidFill>
                  <a:srgbClr val="666666"/>
                </a:solidFill>
                <a:latin typeface="Arial"/>
              </a:rPr>
              <a:t>Fridge / freezer &amp; cold-room manufacturers (PU injection insulation).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1" i="0">
                <a:solidFill>
                  <a:srgbClr val="222222"/>
                </a:solidFill>
                <a:latin typeface="Arial"/>
              </a:rPr>
              <a:t>e.g. </a:t>
            </a:r>
            <a:r>
              <a:rPr sz="1150" b="0" i="0">
                <a:solidFill>
                  <a:srgbClr val="222222"/>
                </a:solidFill>
                <a:latin typeface="Arial"/>
              </a:rPr>
              <a:t>Whirlpool, Electrolux, BSH, Liebherr, Haier, Arçelik; Epta, Arneg</a:t>
            </a:r>
          </a:p>
        </p:txBody>
      </p:sp>
      <p:sp>
        <p:nvSpPr>
          <p:cNvPr id="16" name="Rectangle 15"/>
          <p:cNvSpPr/>
          <p:nvPr/>
        </p:nvSpPr>
        <p:spPr>
          <a:xfrm>
            <a:off x="6172200" y="1280160"/>
            <a:ext cx="2743200" cy="1920240"/>
          </a:xfrm>
          <a:prstGeom prst="rect">
            <a:avLst/>
          </a:prstGeom>
          <a:solidFill>
            <a:srgbClr val="FFFFFF"/>
          </a:solidFill>
          <a:ln w="12700">
            <a:solidFill>
              <a:srgbClr val="DFE4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6172200" y="1280160"/>
            <a:ext cx="2743200" cy="320040"/>
          </a:xfrm>
          <a:prstGeom prst="rect">
            <a:avLst/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294120" y="1280160"/>
            <a:ext cx="2575560" cy="320040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 i="0">
                <a:solidFill>
                  <a:srgbClr val="FFFFFF"/>
                </a:solidFill>
                <a:latin typeface="Arial"/>
              </a:rPr>
              <a:t>3 · Flexible foam (slabstock)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294120" y="1676400"/>
            <a:ext cx="2514600" cy="144780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150" b="0" i="1">
                <a:solidFill>
                  <a:srgbClr val="666666"/>
                </a:solidFill>
                <a:latin typeface="Arial"/>
              </a:rPr>
              <a:t>Foam producers supplying bedding &amp; upholstered furniture.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1" i="0">
                <a:solidFill>
                  <a:srgbClr val="222222"/>
                </a:solidFill>
                <a:latin typeface="Arial"/>
              </a:rPr>
              <a:t>e.g. </a:t>
            </a:r>
            <a:r>
              <a:rPr sz="1150" b="0" i="0">
                <a:solidFill>
                  <a:srgbClr val="222222"/>
                </a:solidFill>
                <a:latin typeface="Arial"/>
              </a:rPr>
              <a:t>Recticel, The Vita Group, Eurofoam, Carpenter, Orsa Foam</a:t>
            </a:r>
          </a:p>
        </p:txBody>
      </p:sp>
      <p:sp>
        <p:nvSpPr>
          <p:cNvPr id="20" name="Rectangle 19"/>
          <p:cNvSpPr/>
          <p:nvPr/>
        </p:nvSpPr>
        <p:spPr>
          <a:xfrm>
            <a:off x="9067800" y="1280160"/>
            <a:ext cx="2743200" cy="1920240"/>
          </a:xfrm>
          <a:prstGeom prst="rect">
            <a:avLst/>
          </a:prstGeom>
          <a:solidFill>
            <a:srgbClr val="FFFFFF"/>
          </a:solidFill>
          <a:ln w="12700">
            <a:solidFill>
              <a:srgbClr val="DFE4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9067800" y="1280160"/>
            <a:ext cx="2743200" cy="320040"/>
          </a:xfrm>
          <a:prstGeom prst="rect">
            <a:avLst/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9189720" y="1280160"/>
            <a:ext cx="2575560" cy="320040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 i="0">
                <a:solidFill>
                  <a:srgbClr val="FFFFFF"/>
                </a:solidFill>
                <a:latin typeface="Arial"/>
              </a:rPr>
              <a:t>4 · Automotive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9189720" y="1676400"/>
            <a:ext cx="2514600" cy="144780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150" b="0" i="1">
                <a:solidFill>
                  <a:srgbClr val="666666"/>
                </a:solidFill>
                <a:latin typeface="Arial"/>
              </a:rPr>
              <a:t>Tier-1 makers of seating, interiors, NVH, RIM &amp; composite parts.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1" i="0">
                <a:solidFill>
                  <a:srgbClr val="222222"/>
                </a:solidFill>
                <a:latin typeface="Arial"/>
              </a:rPr>
              <a:t>e.g. </a:t>
            </a:r>
            <a:r>
              <a:rPr sz="1150" b="0" i="0">
                <a:solidFill>
                  <a:srgbClr val="222222"/>
                </a:solidFill>
                <a:latin typeface="Arial"/>
              </a:rPr>
              <a:t>Adient, Lear, Forvia, Magna, Grupo Antolin</a:t>
            </a:r>
          </a:p>
        </p:txBody>
      </p:sp>
      <p:sp>
        <p:nvSpPr>
          <p:cNvPr id="24" name="Rectangle 23"/>
          <p:cNvSpPr/>
          <p:nvPr/>
        </p:nvSpPr>
        <p:spPr>
          <a:xfrm>
            <a:off x="381000" y="3444240"/>
            <a:ext cx="2743200" cy="1920240"/>
          </a:xfrm>
          <a:prstGeom prst="rect">
            <a:avLst/>
          </a:prstGeom>
          <a:solidFill>
            <a:srgbClr val="FFFFFF"/>
          </a:solidFill>
          <a:ln w="12700">
            <a:solidFill>
              <a:srgbClr val="DFE4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381000" y="3444240"/>
            <a:ext cx="2743200" cy="320040"/>
          </a:xfrm>
          <a:prstGeom prst="rect">
            <a:avLst/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502920" y="3444240"/>
            <a:ext cx="2575560" cy="320040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 i="0">
                <a:solidFill>
                  <a:srgbClr val="FFFFFF"/>
                </a:solidFill>
                <a:latin typeface="Arial"/>
              </a:rPr>
              <a:t>5 · Footwear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502920" y="3840480"/>
            <a:ext cx="2514600" cy="144780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150" b="0" i="1">
                <a:solidFill>
                  <a:srgbClr val="666666"/>
                </a:solidFill>
                <a:latin typeface="Arial"/>
              </a:rPr>
              <a:t>PU sole producers &amp; footwear makers (direct injection); strong Italian districts.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1" i="0">
                <a:solidFill>
                  <a:srgbClr val="222222"/>
                </a:solidFill>
                <a:latin typeface="Arial"/>
              </a:rPr>
              <a:t>e.g. </a:t>
            </a:r>
            <a:r>
              <a:rPr sz="1150" b="0" i="0">
                <a:solidFill>
                  <a:srgbClr val="222222"/>
                </a:solidFill>
                <a:latin typeface="Arial"/>
              </a:rPr>
              <a:t>Sole manufacturers &amp; footwear brands' suppliers</a:t>
            </a:r>
          </a:p>
        </p:txBody>
      </p:sp>
      <p:sp>
        <p:nvSpPr>
          <p:cNvPr id="28" name="Rectangle 27"/>
          <p:cNvSpPr/>
          <p:nvPr/>
        </p:nvSpPr>
        <p:spPr>
          <a:xfrm>
            <a:off x="3276600" y="3444240"/>
            <a:ext cx="2743200" cy="1920240"/>
          </a:xfrm>
          <a:prstGeom prst="rect">
            <a:avLst/>
          </a:prstGeom>
          <a:solidFill>
            <a:srgbClr val="FFFFFF"/>
          </a:solidFill>
          <a:ln w="12700">
            <a:solidFill>
              <a:srgbClr val="DFE4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3276600" y="3444240"/>
            <a:ext cx="2743200" cy="320040"/>
          </a:xfrm>
          <a:prstGeom prst="rect">
            <a:avLst/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3398520" y="3444240"/>
            <a:ext cx="2575560" cy="320040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 i="0">
                <a:solidFill>
                  <a:srgbClr val="FFFFFF"/>
                </a:solidFill>
                <a:latin typeface="Arial"/>
              </a:rPr>
              <a:t>6 · Elastomers &amp; composites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3398520" y="3840480"/>
            <a:ext cx="2514600" cy="144780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150" b="0" i="1">
                <a:solidFill>
                  <a:srgbClr val="666666"/>
                </a:solidFill>
                <a:latin typeface="Arial"/>
              </a:rPr>
              <a:t>Technical PU parts: rollers, coatings, RIM and composite components.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1" i="0">
                <a:solidFill>
                  <a:srgbClr val="222222"/>
                </a:solidFill>
                <a:latin typeface="Arial"/>
              </a:rPr>
              <a:t>e.g. </a:t>
            </a:r>
            <a:r>
              <a:rPr sz="1150" b="0" i="0">
                <a:solidFill>
                  <a:srgbClr val="222222"/>
                </a:solidFill>
                <a:latin typeface="Arial"/>
              </a:rPr>
              <a:t>Industrial manufacturers of technical PU parts</a:t>
            </a:r>
          </a:p>
        </p:txBody>
      </p:sp>
      <p:sp>
        <p:nvSpPr>
          <p:cNvPr id="32" name="Rectangle 31"/>
          <p:cNvSpPr/>
          <p:nvPr/>
        </p:nvSpPr>
        <p:spPr>
          <a:xfrm>
            <a:off x="6172200" y="3444240"/>
            <a:ext cx="2743200" cy="1920240"/>
          </a:xfrm>
          <a:prstGeom prst="rect">
            <a:avLst/>
          </a:prstGeom>
          <a:solidFill>
            <a:srgbClr val="FFFFFF"/>
          </a:solidFill>
          <a:ln w="12700">
            <a:solidFill>
              <a:srgbClr val="DFE4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6172200" y="3444240"/>
            <a:ext cx="2743200" cy="320040"/>
          </a:xfrm>
          <a:prstGeom prst="rect">
            <a:avLst/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6294120" y="3444240"/>
            <a:ext cx="2575560" cy="320040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 i="0">
                <a:solidFill>
                  <a:srgbClr val="FFFFFF"/>
                </a:solidFill>
                <a:latin typeface="Arial"/>
              </a:rPr>
              <a:t>7 · Pipe insulation &amp; water heaters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6294120" y="3840480"/>
            <a:ext cx="2514600" cy="144780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150" b="0" i="1">
                <a:solidFill>
                  <a:srgbClr val="666666"/>
                </a:solidFill>
                <a:latin typeface="Arial"/>
              </a:rPr>
              <a:t>District-heating pre-insulated pipes; boiler / water-heater makers.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1" i="0">
                <a:solidFill>
                  <a:srgbClr val="222222"/>
                </a:solidFill>
                <a:latin typeface="Arial"/>
              </a:rPr>
              <a:t>e.g. </a:t>
            </a:r>
            <a:r>
              <a:rPr sz="1150" b="0" i="0">
                <a:solidFill>
                  <a:srgbClr val="222222"/>
                </a:solidFill>
                <a:latin typeface="Arial"/>
              </a:rPr>
              <a:t>Logstor (Kingspan), Brugg, Isoplus; Ariston, A.O. Smith</a:t>
            </a:r>
          </a:p>
        </p:txBody>
      </p:sp>
      <p:sp>
        <p:nvSpPr>
          <p:cNvPr id="36" name="Rectangle 35"/>
          <p:cNvSpPr/>
          <p:nvPr/>
        </p:nvSpPr>
        <p:spPr>
          <a:xfrm>
            <a:off x="9067800" y="3444240"/>
            <a:ext cx="2743200" cy="1920240"/>
          </a:xfrm>
          <a:prstGeom prst="rect">
            <a:avLst/>
          </a:prstGeom>
          <a:solidFill>
            <a:srgbClr val="FFFFFF"/>
          </a:solidFill>
          <a:ln w="12700">
            <a:solidFill>
              <a:srgbClr val="DFE4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Rectangle 36"/>
          <p:cNvSpPr/>
          <p:nvPr/>
        </p:nvSpPr>
        <p:spPr>
          <a:xfrm>
            <a:off x="9067800" y="3444240"/>
            <a:ext cx="2743200" cy="320040"/>
          </a:xfrm>
          <a:prstGeom prst="rect">
            <a:avLst/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9189720" y="3444240"/>
            <a:ext cx="2575560" cy="320040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 i="0">
                <a:solidFill>
                  <a:srgbClr val="FFFFFF"/>
                </a:solidFill>
                <a:latin typeface="Arial"/>
              </a:rPr>
              <a:t>8 · PU system houses (partners)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9189720" y="3840480"/>
            <a:ext cx="2514600" cy="144780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150" b="0" i="1">
                <a:solidFill>
                  <a:srgbClr val="666666"/>
                </a:solidFill>
                <a:latin typeface="Arial"/>
              </a:rPr>
              <a:t>Chemical groups integrating process technology with raw-material systems.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1" i="0">
                <a:solidFill>
                  <a:srgbClr val="222222"/>
                </a:solidFill>
                <a:latin typeface="Arial"/>
              </a:rPr>
              <a:t>e.g. </a:t>
            </a:r>
            <a:r>
              <a:rPr sz="1150" b="0" i="0">
                <a:solidFill>
                  <a:srgbClr val="222222"/>
                </a:solidFill>
                <a:latin typeface="Arial"/>
              </a:rPr>
              <a:t>Covestro, BASF, Dow, Huntsman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81000" y="5471160"/>
            <a:ext cx="11430000" cy="731520"/>
          </a:xfrm>
          <a:prstGeom prst="rect">
            <a:avLst/>
          </a:prstGeom>
          <a:solidFill>
            <a:srgbClr val="EEF2F7"/>
          </a:solidFill>
          <a:ln w="12700">
            <a:solidFill>
              <a:srgbClr val="CDD8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563880" y="5547360"/>
            <a:ext cx="11064240" cy="609600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400" b="1" i="0">
                <a:solidFill>
                  <a:srgbClr val="1F3A5F"/>
                </a:solidFill>
                <a:latin typeface="Arial"/>
              </a:rPr>
              <a:t>Read-across: </a:t>
            </a:r>
            <a:r>
              <a:rPr sz="1400" b="0" i="0">
                <a:solidFill>
                  <a:srgbClr val="333333"/>
                </a:solidFill>
                <a:latin typeface="Arial"/>
              </a:rPr>
              <a:t>capex-driven, cyclical buyers → the installed base drives recurring </a:t>
            </a:r>
            <a:r>
              <a:rPr sz="1400" b="1" i="0">
                <a:solidFill>
                  <a:srgbClr val="333333"/>
                </a:solidFill>
                <a:latin typeface="Arial"/>
              </a:rPr>
              <a:t>aftermarket</a:t>
            </a:r>
            <a:r>
              <a:rPr sz="1400" b="0" i="0">
                <a:solidFill>
                  <a:srgbClr val="333333"/>
                </a:solidFill>
                <a:latin typeface="Arial"/>
              </a:rPr>
              <a:t> (spares, retrofit, service). Reach is Italy/Europe-centric, global via the Hennecke network (US, Asia).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381000" y="6598920"/>
            <a:ext cx="9906000" cy="15240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0" i="0">
                <a:solidFill>
                  <a:srgbClr val="999999"/>
                </a:solidFill>
                <a:latin typeface="Arial"/>
              </a:rPr>
              <a:t>Illustrative customer profiles by application — not a confirmed client list (customer breakdown not disclosed in the analysed documents). Company names are sector examples.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0960"/>
          </a:xfrm>
          <a:prstGeom prst="rect">
            <a:avLst/>
          </a:prstGeom>
          <a:solidFill>
            <a:srgbClr val="C810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81000" y="228600"/>
            <a:ext cx="8382000" cy="38100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2600" b="1" i="0">
                <a:solidFill>
                  <a:srgbClr val="1F3A5F"/>
                </a:solidFill>
                <a:latin typeface="Arial"/>
              </a:rPr>
              <a:t>Competitor map — PU machinery landscape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81000" y="594360"/>
            <a:ext cx="9144000" cy="22860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0" i="0">
                <a:solidFill>
                  <a:srgbClr val="666666"/>
                </a:solidFill>
                <a:latin typeface="Arial"/>
              </a:rPr>
              <a:t>Qualitative positioning of the main players in the reference sector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763000" y="198120"/>
            <a:ext cx="3048000" cy="16764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0" i="0">
                <a:solidFill>
                  <a:srgbClr val="999999"/>
                </a:solidFill>
                <a:latin typeface="Arial"/>
              </a:rPr>
              <a:t>CONFIDENTIAL · For Board discussion</a:t>
            </a:r>
          </a:p>
        </p:txBody>
      </p:sp>
      <p:sp>
        <p:nvSpPr>
          <p:cNvPr id="6" name="Rectangle 5"/>
          <p:cNvSpPr/>
          <p:nvPr/>
        </p:nvSpPr>
        <p:spPr>
          <a:xfrm>
            <a:off x="381000" y="6537960"/>
            <a:ext cx="11430000" cy="7620"/>
          </a:xfrm>
          <a:prstGeom prst="rect">
            <a:avLst/>
          </a:prstGeom>
          <a:solidFill>
            <a:srgbClr val="DFE4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668000" y="6598920"/>
            <a:ext cx="1143000" cy="15240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1" i="0">
                <a:solidFill>
                  <a:srgbClr val="1F3A5F"/>
                </a:solidFill>
                <a:latin typeface="Arial"/>
              </a:rPr>
              <a:t>5 / 7</a:t>
            </a:r>
          </a:p>
        </p:txBody>
      </p:sp>
      <p:sp>
        <p:nvSpPr>
          <p:cNvPr id="8" name="Rectangle 7"/>
          <p:cNvSpPr/>
          <p:nvPr/>
        </p:nvSpPr>
        <p:spPr>
          <a:xfrm>
            <a:off x="914400" y="1203960"/>
            <a:ext cx="6705600" cy="4038600"/>
          </a:xfrm>
          <a:prstGeom prst="rect">
            <a:avLst/>
          </a:prstGeom>
          <a:solidFill>
            <a:srgbClr val="FBFCFD"/>
          </a:solidFill>
          <a:ln w="12700">
            <a:solidFill>
              <a:srgbClr val="DFE4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1143000" y="3238500"/>
            <a:ext cx="6248400" cy="10668"/>
          </a:xfrm>
          <a:prstGeom prst="rect">
            <a:avLst/>
          </a:prstGeom>
          <a:solidFill>
            <a:srgbClr val="C9D2D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4267200" y="1447800"/>
            <a:ext cx="10668" cy="3581400"/>
          </a:xfrm>
          <a:prstGeom prst="rect">
            <a:avLst/>
          </a:prstGeom>
          <a:solidFill>
            <a:srgbClr val="C9D2D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143000" y="1257300"/>
            <a:ext cx="6248400" cy="15240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 i="0">
                <a:solidFill>
                  <a:srgbClr val="666666"/>
                </a:solidFill>
                <a:latin typeface="Arial"/>
              </a:rPr>
              <a:t>▲ Global scale &amp; installed base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143000" y="5067300"/>
            <a:ext cx="6248400" cy="15240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 i="0">
                <a:solidFill>
                  <a:srgbClr val="666666"/>
                </a:solidFill>
                <a:latin typeface="Arial"/>
              </a:rPr>
              <a:t>▼ Regional / niche reach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75360" y="3284220"/>
            <a:ext cx="1752600" cy="13716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 i="0">
                <a:solidFill>
                  <a:srgbClr val="999999"/>
                </a:solidFill>
                <a:latin typeface="Arial"/>
              </a:rPr>
              <a:t>◄ Specialised PU pure-play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562600" y="3284220"/>
            <a:ext cx="1752600" cy="13716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 i="0">
                <a:solidFill>
                  <a:srgbClr val="999999"/>
                </a:solidFill>
                <a:latin typeface="Arial"/>
              </a:rPr>
              <a:t>Diversified machinery group ►</a:t>
            </a:r>
          </a:p>
        </p:txBody>
      </p:sp>
      <p:sp>
        <p:nvSpPr>
          <p:cNvPr id="15" name="Oval 14"/>
          <p:cNvSpPr/>
          <p:nvPr/>
        </p:nvSpPr>
        <p:spPr>
          <a:xfrm>
            <a:off x="2999232" y="1743456"/>
            <a:ext cx="411480" cy="411480"/>
          </a:xfrm>
          <a:prstGeom prst="ellipse">
            <a:avLst/>
          </a:prstGeom>
          <a:solidFill>
            <a:srgbClr val="1F3A5F"/>
          </a:solidFill>
          <a:ln w="190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2519172" y="2162556"/>
            <a:ext cx="1371600" cy="25908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lnSpc>
                <a:spcPct val="95000"/>
              </a:lnSpc>
              <a:spcBef>
                <a:spcPts val="0"/>
              </a:spcBef>
              <a:spcAft>
                <a:spcPts val="0"/>
              </a:spcAft>
            </a:pPr>
            <a:r>
              <a:rPr sz="1150" b="1" i="0">
                <a:solidFill>
                  <a:srgbClr val="222222"/>
                </a:solidFill>
                <a:latin typeface="Arial"/>
              </a:rPr>
              <a:t>Hennecke Group</a:t>
            </a:r>
          </a:p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 i="1">
                <a:solidFill>
                  <a:srgbClr val="1F3A5F"/>
                </a:solidFill>
                <a:latin typeface="Arial"/>
              </a:rPr>
              <a:t>PU world leader (incl. OMS)</a:t>
            </a:r>
          </a:p>
        </p:txBody>
      </p:sp>
      <p:sp>
        <p:nvSpPr>
          <p:cNvPr id="17" name="Oval 16"/>
          <p:cNvSpPr/>
          <p:nvPr/>
        </p:nvSpPr>
        <p:spPr>
          <a:xfrm>
            <a:off x="2287524" y="2497836"/>
            <a:ext cx="335280" cy="335280"/>
          </a:xfrm>
          <a:prstGeom prst="ellipse">
            <a:avLst/>
          </a:prstGeom>
          <a:solidFill>
            <a:srgbClr val="C8102E"/>
          </a:solidFill>
          <a:ln w="190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769364" y="2840736"/>
            <a:ext cx="1371600" cy="25908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lnSpc>
                <a:spcPct val="95000"/>
              </a:lnSpc>
              <a:spcBef>
                <a:spcPts val="0"/>
              </a:spcBef>
              <a:spcAft>
                <a:spcPts val="0"/>
              </a:spcAft>
            </a:pPr>
            <a:r>
              <a:rPr sz="1150" b="1" i="0">
                <a:solidFill>
                  <a:srgbClr val="222222"/>
                </a:solidFill>
                <a:latin typeface="Arial"/>
              </a:rPr>
              <a:t>Hennecke-OMS</a:t>
            </a:r>
          </a:p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 i="1">
                <a:solidFill>
                  <a:srgbClr val="C8102E"/>
                </a:solidFill>
                <a:latin typeface="Arial"/>
              </a:rPr>
              <a:t>TARGET</a:t>
            </a:r>
          </a:p>
        </p:txBody>
      </p:sp>
      <p:sp>
        <p:nvSpPr>
          <p:cNvPr id="19" name="Oval 18"/>
          <p:cNvSpPr/>
          <p:nvPr/>
        </p:nvSpPr>
        <p:spPr>
          <a:xfrm>
            <a:off x="2942844" y="3101340"/>
            <a:ext cx="274320" cy="274320"/>
          </a:xfrm>
          <a:prstGeom prst="ellipse">
            <a:avLst/>
          </a:prstGeom>
          <a:solidFill>
            <a:srgbClr val="5B7A9E"/>
          </a:solidFill>
          <a:ln w="190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2394204" y="3383280"/>
            <a:ext cx="1371600" cy="25908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lnSpc>
                <a:spcPct val="95000"/>
              </a:lnSpc>
              <a:spcBef>
                <a:spcPts val="0"/>
              </a:spcBef>
              <a:spcAft>
                <a:spcPts val="0"/>
              </a:spcAft>
            </a:pPr>
            <a:r>
              <a:rPr sz="1150" b="1" i="0">
                <a:solidFill>
                  <a:srgbClr val="222222"/>
                </a:solidFill>
                <a:latin typeface="Arial"/>
              </a:rPr>
              <a:t>Cannon / Afros</a:t>
            </a:r>
          </a:p>
        </p:txBody>
      </p:sp>
      <p:sp>
        <p:nvSpPr>
          <p:cNvPr id="21" name="Oval 20"/>
          <p:cNvSpPr/>
          <p:nvPr/>
        </p:nvSpPr>
        <p:spPr>
          <a:xfrm>
            <a:off x="6216396" y="1917192"/>
            <a:ext cx="350520" cy="350520"/>
          </a:xfrm>
          <a:prstGeom prst="ellipse">
            <a:avLst/>
          </a:prstGeom>
          <a:solidFill>
            <a:srgbClr val="5B7A9E"/>
          </a:solidFill>
          <a:ln w="190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705856" y="2275332"/>
            <a:ext cx="1371600" cy="25908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lnSpc>
                <a:spcPct val="95000"/>
              </a:lnSpc>
              <a:spcBef>
                <a:spcPts val="0"/>
              </a:spcBef>
              <a:spcAft>
                <a:spcPts val="0"/>
              </a:spcAft>
            </a:pPr>
            <a:r>
              <a:rPr sz="1150" b="1" i="0">
                <a:solidFill>
                  <a:srgbClr val="222222"/>
                </a:solidFill>
                <a:latin typeface="Arial"/>
              </a:rPr>
              <a:t>KraussMaffei</a:t>
            </a:r>
          </a:p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 i="1">
                <a:solidFill>
                  <a:srgbClr val="999999"/>
                </a:solidFill>
                <a:latin typeface="Arial"/>
              </a:rPr>
              <a:t>RPM unit · ChemChina</a:t>
            </a:r>
          </a:p>
        </p:txBody>
      </p:sp>
      <p:sp>
        <p:nvSpPr>
          <p:cNvPr id="23" name="Oval 22"/>
          <p:cNvSpPr/>
          <p:nvPr/>
        </p:nvSpPr>
        <p:spPr>
          <a:xfrm>
            <a:off x="5644896" y="2973324"/>
            <a:ext cx="243840" cy="243840"/>
          </a:xfrm>
          <a:prstGeom prst="ellipse">
            <a:avLst/>
          </a:prstGeom>
          <a:solidFill>
            <a:srgbClr val="5B7A9E"/>
          </a:solidFill>
          <a:ln w="190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5081016" y="3224784"/>
            <a:ext cx="1371600" cy="25908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lnSpc>
                <a:spcPct val="95000"/>
              </a:lnSpc>
              <a:spcBef>
                <a:spcPts val="0"/>
              </a:spcBef>
              <a:spcAft>
                <a:spcPts val="0"/>
              </a:spcAft>
            </a:pPr>
            <a:r>
              <a:rPr sz="1150" b="1" i="0">
                <a:solidFill>
                  <a:srgbClr val="222222"/>
                </a:solidFill>
                <a:latin typeface="Arial"/>
              </a:rPr>
              <a:t>Kurtz Ersa</a:t>
            </a:r>
          </a:p>
        </p:txBody>
      </p:sp>
      <p:sp>
        <p:nvSpPr>
          <p:cNvPr id="25" name="Oval 24"/>
          <p:cNvSpPr/>
          <p:nvPr/>
        </p:nvSpPr>
        <p:spPr>
          <a:xfrm>
            <a:off x="4770120" y="3403092"/>
            <a:ext cx="243840" cy="243840"/>
          </a:xfrm>
          <a:prstGeom prst="ellipse">
            <a:avLst/>
          </a:prstGeom>
          <a:solidFill>
            <a:srgbClr val="5B7A9E"/>
          </a:solidFill>
          <a:ln w="190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4206240" y="3654552"/>
            <a:ext cx="1371600" cy="25908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lnSpc>
                <a:spcPct val="95000"/>
              </a:lnSpc>
              <a:spcBef>
                <a:spcPts val="0"/>
              </a:spcBef>
              <a:spcAft>
                <a:spcPts val="0"/>
              </a:spcAft>
            </a:pPr>
            <a:r>
              <a:rPr sz="1150" b="1" i="0">
                <a:solidFill>
                  <a:srgbClr val="222222"/>
                </a:solidFill>
                <a:latin typeface="Arial"/>
              </a:rPr>
              <a:t>Frimo</a:t>
            </a:r>
          </a:p>
        </p:txBody>
      </p:sp>
      <p:sp>
        <p:nvSpPr>
          <p:cNvPr id="27" name="Oval 26"/>
          <p:cNvSpPr/>
          <p:nvPr/>
        </p:nvSpPr>
        <p:spPr>
          <a:xfrm>
            <a:off x="2286000" y="3991356"/>
            <a:ext cx="213360" cy="213360"/>
          </a:xfrm>
          <a:prstGeom prst="ellipse">
            <a:avLst/>
          </a:prstGeom>
          <a:solidFill>
            <a:srgbClr val="5B7A9E"/>
          </a:solidFill>
          <a:ln w="190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1706880" y="4212336"/>
            <a:ext cx="1371600" cy="25908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lnSpc>
                <a:spcPct val="95000"/>
              </a:lnSpc>
              <a:spcBef>
                <a:spcPts val="0"/>
              </a:spcBef>
              <a:spcAft>
                <a:spcPts val="0"/>
              </a:spcAft>
            </a:pPr>
            <a:r>
              <a:rPr sz="1150" b="1" i="0">
                <a:solidFill>
                  <a:srgbClr val="222222"/>
                </a:solidFill>
                <a:latin typeface="Arial"/>
              </a:rPr>
              <a:t>Saip</a:t>
            </a:r>
          </a:p>
        </p:txBody>
      </p:sp>
      <p:sp>
        <p:nvSpPr>
          <p:cNvPr id="29" name="Rectangle 28"/>
          <p:cNvSpPr/>
          <p:nvPr/>
        </p:nvSpPr>
        <p:spPr>
          <a:xfrm>
            <a:off x="7772400" y="1203960"/>
            <a:ext cx="4038600" cy="4038600"/>
          </a:xfrm>
          <a:prstGeom prst="rect">
            <a:avLst/>
          </a:prstGeom>
          <a:solidFill>
            <a:srgbClr val="FFFFFF"/>
          </a:solidFill>
          <a:ln w="12700">
            <a:solidFill>
              <a:srgbClr val="DFE4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7955280" y="1295400"/>
            <a:ext cx="3657600" cy="1981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600" b="1" i="0">
                <a:solidFill>
                  <a:srgbClr val="1F3A5F"/>
                </a:solidFill>
                <a:latin typeface="Arial"/>
              </a:rPr>
              <a:t>Key players</a:t>
            </a:r>
          </a:p>
        </p:txBody>
      </p:sp>
      <p:sp>
        <p:nvSpPr>
          <p:cNvPr id="31" name="Rectangle 30"/>
          <p:cNvSpPr/>
          <p:nvPr/>
        </p:nvSpPr>
        <p:spPr>
          <a:xfrm>
            <a:off x="7955280" y="1524000"/>
            <a:ext cx="3672840" cy="7620"/>
          </a:xfrm>
          <a:prstGeom prst="rect">
            <a:avLst/>
          </a:prstGeom>
          <a:solidFill>
            <a:srgbClr val="DFE4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7955280" y="1615440"/>
            <a:ext cx="3688080" cy="350520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1300"/>
              </a:spcAft>
            </a:pPr>
            <a:r>
              <a:rPr sz="1300" b="0" i="0">
                <a:solidFill>
                  <a:srgbClr val="5B7A9E"/>
                </a:solidFill>
                <a:latin typeface="Arial"/>
              </a:rPr>
              <a:t>•  </a:t>
            </a:r>
            <a:r>
              <a:rPr sz="1300" b="1" i="0">
                <a:solidFill>
                  <a:srgbClr val="1F3A5F"/>
                </a:solidFill>
                <a:latin typeface="Arial"/>
              </a:rPr>
              <a:t>Hennecke Group </a:t>
            </a:r>
            <a:r>
              <a:rPr sz="1300" b="0" i="0">
                <a:solidFill>
                  <a:srgbClr val="222222"/>
                </a:solidFill>
                <a:latin typeface="Arial"/>
              </a:rPr>
              <a:t>(DE/IT) — world leader in PU process tech; includes the target Hennecke-OMS.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1300"/>
              </a:spcAft>
            </a:pPr>
            <a:r>
              <a:rPr sz="1300" b="0" i="0">
                <a:solidFill>
                  <a:srgbClr val="5B7A9E"/>
                </a:solidFill>
                <a:latin typeface="Arial"/>
              </a:rPr>
              <a:t>•  </a:t>
            </a:r>
            <a:r>
              <a:rPr sz="1300" b="1" i="0">
                <a:solidFill>
                  <a:srgbClr val="222222"/>
                </a:solidFill>
                <a:latin typeface="Arial"/>
              </a:rPr>
              <a:t>Cannon / Afros </a:t>
            </a:r>
            <a:r>
              <a:rPr sz="1300" b="0" i="0">
                <a:solidFill>
                  <a:srgbClr val="222222"/>
                </a:solidFill>
                <a:latin typeface="Arial"/>
              </a:rPr>
              <a:t>(Peschiera Borromeo, IT) — PU metering, foam &amp; composites; main Italian rival.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1300"/>
              </a:spcAft>
            </a:pPr>
            <a:r>
              <a:rPr sz="1300" b="0" i="0">
                <a:solidFill>
                  <a:srgbClr val="5B7A9E"/>
                </a:solidFill>
                <a:latin typeface="Arial"/>
              </a:rPr>
              <a:t>•  </a:t>
            </a:r>
            <a:r>
              <a:rPr sz="1300" b="1" i="0">
                <a:solidFill>
                  <a:srgbClr val="222222"/>
                </a:solidFill>
                <a:latin typeface="Arial"/>
              </a:rPr>
              <a:t>KraussMaffei </a:t>
            </a:r>
            <a:r>
              <a:rPr sz="1300" b="0" i="0">
                <a:solidFill>
                  <a:srgbClr val="222222"/>
                </a:solidFill>
                <a:latin typeface="Arial"/>
              </a:rPr>
              <a:t>(Munich, DE) — Reaction Process Machinery unit; diversified, ChemChina-owned.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1300"/>
              </a:spcAft>
            </a:pPr>
            <a:r>
              <a:rPr sz="1300" b="0" i="0">
                <a:solidFill>
                  <a:srgbClr val="5B7A9E"/>
                </a:solidFill>
                <a:latin typeface="Arial"/>
              </a:rPr>
              <a:t>•  </a:t>
            </a:r>
            <a:r>
              <a:rPr sz="1300" b="1" i="0">
                <a:solidFill>
                  <a:srgbClr val="222222"/>
                </a:solidFill>
                <a:latin typeface="Arial"/>
              </a:rPr>
              <a:t>Frimo Group </a:t>
            </a:r>
            <a:r>
              <a:rPr sz="1300" b="0" i="0">
                <a:solidFill>
                  <a:srgbClr val="222222"/>
                </a:solidFill>
                <a:latin typeface="Arial"/>
              </a:rPr>
              <a:t>(Lotte, DE) — PU tooling &amp; systems, automotive-focused.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1300"/>
              </a:spcAft>
            </a:pPr>
            <a:r>
              <a:rPr sz="1300" b="0" i="0">
                <a:solidFill>
                  <a:srgbClr val="5B7A9E"/>
                </a:solidFill>
                <a:latin typeface="Arial"/>
              </a:rPr>
              <a:t>•  </a:t>
            </a:r>
            <a:r>
              <a:rPr sz="1300" b="1" i="0">
                <a:solidFill>
                  <a:srgbClr val="222222"/>
                </a:solidFill>
                <a:latin typeface="Arial"/>
              </a:rPr>
              <a:t>Kurtz Ersa </a:t>
            </a:r>
            <a:r>
              <a:rPr sz="1300" b="0" i="0">
                <a:solidFill>
                  <a:srgbClr val="222222"/>
                </a:solidFill>
                <a:latin typeface="Arial"/>
              </a:rPr>
              <a:t>(Kreuzwertheim, DE) — EPS/PU foaming machinery.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1300"/>
              </a:spcAft>
            </a:pPr>
            <a:r>
              <a:rPr sz="1300" b="0" i="0">
                <a:solidFill>
                  <a:srgbClr val="5B7A9E"/>
                </a:solidFill>
                <a:latin typeface="Arial"/>
              </a:rPr>
              <a:t>•  </a:t>
            </a:r>
            <a:r>
              <a:rPr sz="1300" b="1" i="0">
                <a:solidFill>
                  <a:srgbClr val="222222"/>
                </a:solidFill>
                <a:latin typeface="Arial"/>
              </a:rPr>
              <a:t>Saip </a:t>
            </a:r>
            <a:r>
              <a:rPr sz="1300" b="0" i="0">
                <a:solidFill>
                  <a:srgbClr val="222222"/>
                </a:solidFill>
                <a:latin typeface="Arial"/>
              </a:rPr>
              <a:t>(Offanengo, IT) — PU plants / refrigeration insulation.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381000" y="5334000"/>
            <a:ext cx="7620000" cy="18288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1" i="0">
                <a:solidFill>
                  <a:srgbClr val="1F3A5F"/>
                </a:solidFill>
                <a:latin typeface="Arial"/>
              </a:rPr>
              <a:t>Net read: the target sits among specialised PU pure-plays with global, group-backed reach — differentiated in sandwich-panel &amp; flexible-foam lines.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381000" y="6598920"/>
            <a:ext cx="9906000" cy="15240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0" i="0">
                <a:solidFill>
                  <a:srgbClr val="999999"/>
                </a:solidFill>
                <a:latin typeface="Arial"/>
              </a:rPr>
              <a:t>Qualitative positioning — illustrative, not to scale; consolidated competitor revenues not disclosed in the analysed documents.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0960"/>
          </a:xfrm>
          <a:prstGeom prst="rect">
            <a:avLst/>
          </a:prstGeom>
          <a:solidFill>
            <a:srgbClr val="C810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81000" y="228600"/>
            <a:ext cx="8382000" cy="38100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2600" b="1" i="0">
                <a:solidFill>
                  <a:srgbClr val="1F3A5F"/>
                </a:solidFill>
                <a:latin typeface="Arial"/>
              </a:rPr>
              <a:t>Tailwinds vs headwinds — what drives this business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81000" y="594360"/>
            <a:ext cx="9144000" cy="22860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0" i="0">
                <a:solidFill>
                  <a:srgbClr val="666666"/>
                </a:solidFill>
                <a:latin typeface="Arial"/>
              </a:rPr>
              <a:t>Two silos: structural supports vs structural pressures, specific to a PU capital-goods model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763000" y="198120"/>
            <a:ext cx="3048000" cy="16764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0" i="0">
                <a:solidFill>
                  <a:srgbClr val="999999"/>
                </a:solidFill>
                <a:latin typeface="Arial"/>
              </a:rPr>
              <a:t>CONFIDENTIAL · For Board discussion</a:t>
            </a:r>
          </a:p>
        </p:txBody>
      </p:sp>
      <p:sp>
        <p:nvSpPr>
          <p:cNvPr id="6" name="Rectangle 5"/>
          <p:cNvSpPr/>
          <p:nvPr/>
        </p:nvSpPr>
        <p:spPr>
          <a:xfrm>
            <a:off x="381000" y="6537960"/>
            <a:ext cx="11430000" cy="7620"/>
          </a:xfrm>
          <a:prstGeom prst="rect">
            <a:avLst/>
          </a:prstGeom>
          <a:solidFill>
            <a:srgbClr val="DFE4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668000" y="6598920"/>
            <a:ext cx="1143000" cy="15240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1" i="0">
                <a:solidFill>
                  <a:srgbClr val="1F3A5F"/>
                </a:solidFill>
                <a:latin typeface="Arial"/>
              </a:rPr>
              <a:t>6 / 7</a:t>
            </a:r>
          </a:p>
        </p:txBody>
      </p:sp>
      <p:sp>
        <p:nvSpPr>
          <p:cNvPr id="8" name="Rectangle 7"/>
          <p:cNvSpPr/>
          <p:nvPr/>
        </p:nvSpPr>
        <p:spPr>
          <a:xfrm>
            <a:off x="381000" y="952500"/>
            <a:ext cx="5638800" cy="4381500"/>
          </a:xfrm>
          <a:prstGeom prst="rect">
            <a:avLst/>
          </a:prstGeom>
          <a:solidFill>
            <a:srgbClr val="FFFFFF"/>
          </a:solidFill>
          <a:ln w="12700">
            <a:solidFill>
              <a:srgbClr val="DFE4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381000" y="952500"/>
            <a:ext cx="5638800" cy="350520"/>
          </a:xfrm>
          <a:prstGeom prst="rect">
            <a:avLst/>
          </a:prstGeom>
          <a:solidFill>
            <a:srgbClr val="2E7D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48640" y="952500"/>
            <a:ext cx="5410200" cy="350520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500" b="1" i="0">
                <a:solidFill>
                  <a:srgbClr val="FFFFFF"/>
                </a:solidFill>
                <a:latin typeface="Arial"/>
              </a:rPr>
              <a:t>TAILWINDS  ·  structural supports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63880" y="1432560"/>
            <a:ext cx="5273040" cy="381000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1000"/>
              </a:spcAft>
            </a:pPr>
            <a:r>
              <a:rPr sz="1450" b="0" i="0">
                <a:solidFill>
                  <a:srgbClr val="2E7D4F"/>
                </a:solidFill>
                <a:latin typeface="Arial"/>
              </a:rPr>
              <a:t>•  </a:t>
            </a:r>
            <a:r>
              <a:rPr sz="1450" b="1" i="0">
                <a:solidFill>
                  <a:srgbClr val="222222"/>
                </a:solidFill>
                <a:latin typeface="Arial"/>
              </a:rPr>
              <a:t>Building energy-efficiency regulation</a:t>
            </a:r>
            <a:r>
              <a:rPr sz="1450" b="0" i="0">
                <a:solidFill>
                  <a:srgbClr val="222222"/>
                </a:solidFill>
                <a:latin typeface="Arial"/>
              </a:rPr>
              <a:t> (EU EPBD, Green Deal, renovations) → demand for insulating sandwich panels &amp; rigid foam.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1000"/>
              </a:spcAft>
            </a:pPr>
            <a:r>
              <a:rPr sz="1450" b="0" i="0">
                <a:solidFill>
                  <a:srgbClr val="2E7D4F"/>
                </a:solidFill>
                <a:latin typeface="Arial"/>
              </a:rPr>
              <a:t>•  </a:t>
            </a:r>
            <a:r>
              <a:rPr sz="1450" b="1" i="0">
                <a:solidFill>
                  <a:srgbClr val="222222"/>
                </a:solidFill>
                <a:latin typeface="Arial"/>
              </a:rPr>
              <a:t>Cold-chain &amp; refrigeration</a:t>
            </a:r>
            <a:r>
              <a:rPr sz="1450" b="0" i="0">
                <a:solidFill>
                  <a:srgbClr val="222222"/>
                </a:solidFill>
                <a:latin typeface="Arial"/>
              </a:rPr>
              <a:t> expansion (food, pharma) → PU-injection lines; Hennecke already equips much of global fridge output.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1000"/>
              </a:spcAft>
            </a:pPr>
            <a:r>
              <a:rPr sz="1450" b="0" i="0">
                <a:solidFill>
                  <a:srgbClr val="2E7D4F"/>
                </a:solidFill>
                <a:latin typeface="Arial"/>
              </a:rPr>
              <a:t>•  </a:t>
            </a:r>
            <a:r>
              <a:rPr sz="1450" b="1" i="0">
                <a:solidFill>
                  <a:srgbClr val="222222"/>
                </a:solidFill>
                <a:latin typeface="Arial"/>
              </a:rPr>
              <a:t>Blowing-agent transition</a:t>
            </a:r>
            <a:r>
              <a:rPr sz="1450" b="0" i="0">
                <a:solidFill>
                  <a:srgbClr val="222222"/>
                </a:solidFill>
                <a:latin typeface="Arial"/>
              </a:rPr>
              <a:t> (HFC → HFO/pentane) forces a customer machine-fleet renewal cycle.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1000"/>
              </a:spcAft>
            </a:pPr>
            <a:r>
              <a:rPr sz="1450" b="0" i="0">
                <a:solidFill>
                  <a:srgbClr val="2E7D4F"/>
                </a:solidFill>
                <a:latin typeface="Arial"/>
              </a:rPr>
              <a:t>•  </a:t>
            </a:r>
            <a:r>
              <a:rPr sz="1450" b="1" i="0">
                <a:solidFill>
                  <a:srgbClr val="222222"/>
                </a:solidFill>
                <a:latin typeface="Arial"/>
              </a:rPr>
              <a:t>e-mobility &amp; lightweighting</a:t>
            </a:r>
            <a:r>
              <a:rPr sz="1450" b="0" i="0">
                <a:solidFill>
                  <a:srgbClr val="222222"/>
                </a:solidFill>
                <a:latin typeface="Arial"/>
              </a:rPr>
              <a:t> → automotive PU seating, NVH and composite parts.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1000"/>
              </a:spcAft>
            </a:pPr>
            <a:r>
              <a:rPr sz="1450" b="0" i="0">
                <a:solidFill>
                  <a:srgbClr val="2E7D4F"/>
                </a:solidFill>
                <a:latin typeface="Arial"/>
              </a:rPr>
              <a:t>•  </a:t>
            </a:r>
            <a:r>
              <a:rPr sz="1450" b="1" i="0">
                <a:solidFill>
                  <a:srgbClr val="222222"/>
                </a:solidFill>
                <a:latin typeface="Arial"/>
              </a:rPr>
              <a:t>Large global installed base</a:t>
            </a:r>
            <a:r>
              <a:rPr sz="1450" b="0" i="0">
                <a:solidFill>
                  <a:srgbClr val="222222"/>
                </a:solidFill>
                <a:latin typeface="Arial"/>
              </a:rPr>
              <a:t> → recurring, high-margin aftermarket (spares, retrofit, service).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1000"/>
              </a:spcAft>
            </a:pPr>
            <a:r>
              <a:rPr sz="1450" b="0" i="0">
                <a:solidFill>
                  <a:srgbClr val="2E7D4F"/>
                </a:solidFill>
                <a:latin typeface="Arial"/>
              </a:rPr>
              <a:t>•  </a:t>
            </a:r>
            <a:r>
              <a:rPr sz="1450" b="1" i="0">
                <a:solidFill>
                  <a:srgbClr val="222222"/>
                </a:solidFill>
                <a:latin typeface="Arial"/>
              </a:rPr>
              <a:t>Brückner Group backing</a:t>
            </a:r>
            <a:r>
              <a:rPr sz="1450" b="0" i="0">
                <a:solidFill>
                  <a:srgbClr val="222222"/>
                </a:solidFill>
                <a:latin typeface="Arial"/>
              </a:rPr>
              <a:t> → R&amp;D, cross-selling, global reach and financial strength.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1000"/>
              </a:spcAft>
            </a:pPr>
            <a:r>
              <a:rPr sz="1450" b="0" i="0">
                <a:solidFill>
                  <a:srgbClr val="2E7D4F"/>
                </a:solidFill>
                <a:latin typeface="Arial"/>
              </a:rPr>
              <a:t>•  </a:t>
            </a:r>
            <a:r>
              <a:rPr sz="1450" b="1" i="0">
                <a:solidFill>
                  <a:srgbClr val="222222"/>
                </a:solidFill>
                <a:latin typeface="Arial"/>
              </a:rPr>
              <a:t>Historic OMS know-how</a:t>
            </a:r>
            <a:r>
              <a:rPr sz="1450" b="0" i="0">
                <a:solidFill>
                  <a:srgbClr val="222222"/>
                </a:solidFill>
                <a:latin typeface="Arial"/>
              </a:rPr>
              <a:t> in continuous sandwich-panel &amp; flexible-foam lines (differentiation).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172200" y="952500"/>
            <a:ext cx="5638800" cy="4381500"/>
          </a:xfrm>
          <a:prstGeom prst="rect">
            <a:avLst/>
          </a:prstGeom>
          <a:solidFill>
            <a:srgbClr val="FFFFFF"/>
          </a:solidFill>
          <a:ln w="12700">
            <a:solidFill>
              <a:srgbClr val="DFE4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172200" y="952500"/>
            <a:ext cx="5638800" cy="350520"/>
          </a:xfrm>
          <a:prstGeom prst="rect">
            <a:avLst/>
          </a:prstGeom>
          <a:solidFill>
            <a:srgbClr val="C810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339840" y="952500"/>
            <a:ext cx="5410200" cy="350520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500" b="1" i="0">
                <a:solidFill>
                  <a:srgbClr val="FFFFFF"/>
                </a:solidFill>
                <a:latin typeface="Arial"/>
              </a:rPr>
              <a:t>HEADWINDS  ·  structural pressures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355080" y="1432560"/>
            <a:ext cx="5273040" cy="381000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1000"/>
              </a:spcAft>
            </a:pPr>
            <a:r>
              <a:rPr sz="1450" b="0" i="0">
                <a:solidFill>
                  <a:srgbClr val="C8102E"/>
                </a:solidFill>
                <a:latin typeface="Arial"/>
              </a:rPr>
              <a:t>•  </a:t>
            </a:r>
            <a:r>
              <a:rPr sz="1450" b="1" i="0">
                <a:solidFill>
                  <a:srgbClr val="222222"/>
                </a:solidFill>
                <a:latin typeface="Arial"/>
              </a:rPr>
              <a:t>Capex-driven cyclicality</a:t>
            </a:r>
            <a:r>
              <a:rPr sz="1450" b="0" i="0">
                <a:solidFill>
                  <a:srgbClr val="222222"/>
                </a:solidFill>
                <a:latin typeface="Arial"/>
              </a:rPr>
              <a:t> → lumpy, volatile order intake tied to customers' investment cycle.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1000"/>
              </a:spcAft>
            </a:pPr>
            <a:r>
              <a:rPr sz="1450" b="0" i="0">
                <a:solidFill>
                  <a:srgbClr val="C8102E"/>
                </a:solidFill>
                <a:latin typeface="Arial"/>
              </a:rPr>
              <a:t>•  </a:t>
            </a:r>
            <a:r>
              <a:rPr sz="1450" b="1" i="0">
                <a:solidFill>
                  <a:srgbClr val="222222"/>
                </a:solidFill>
                <a:latin typeface="Arial"/>
              </a:rPr>
              <a:t>Long project cycles</a:t>
            </a:r>
            <a:r>
              <a:rPr sz="1450" b="0" i="0">
                <a:solidFill>
                  <a:srgbClr val="222222"/>
                </a:solidFill>
                <a:latin typeface="Arial"/>
              </a:rPr>
              <a:t> → work-in-progress swings distort reported earnings (the 2024 margin effect).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1000"/>
              </a:spcAft>
            </a:pPr>
            <a:r>
              <a:rPr sz="1450" b="0" i="0">
                <a:solidFill>
                  <a:srgbClr val="C8102E"/>
                </a:solidFill>
                <a:latin typeface="Arial"/>
              </a:rPr>
              <a:t>•  </a:t>
            </a:r>
            <a:r>
              <a:rPr sz="1450" b="1" i="0">
                <a:solidFill>
                  <a:srgbClr val="222222"/>
                </a:solidFill>
                <a:latin typeface="Arial"/>
              </a:rPr>
              <a:t>Thin, volatile margins</a:t>
            </a:r>
            <a:r>
              <a:rPr sz="1450" b="0" i="0">
                <a:solidFill>
                  <a:srgbClr val="222222"/>
                </a:solidFill>
                <a:latin typeface="Arial"/>
              </a:rPr>
              <a:t> &amp; execution risk on complex turnkey orders.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1000"/>
              </a:spcAft>
            </a:pPr>
            <a:r>
              <a:rPr sz="1450" b="0" i="0">
                <a:solidFill>
                  <a:srgbClr val="C8102E"/>
                </a:solidFill>
                <a:latin typeface="Arial"/>
              </a:rPr>
              <a:t>•  </a:t>
            </a:r>
            <a:r>
              <a:rPr sz="1450" b="1" i="0">
                <a:solidFill>
                  <a:srgbClr val="222222"/>
                </a:solidFill>
                <a:latin typeface="Arial"/>
              </a:rPr>
              <a:t>Captive nature</a:t>
            </a:r>
            <a:r>
              <a:rPr sz="1450" b="0" i="0">
                <a:solidFill>
                  <a:srgbClr val="222222"/>
                </a:solidFill>
                <a:latin typeface="Arial"/>
              </a:rPr>
              <a:t> → limited autonomy, intercompany dependence, carve-out complexity.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1000"/>
              </a:spcAft>
            </a:pPr>
            <a:r>
              <a:rPr sz="1450" b="0" i="0">
                <a:solidFill>
                  <a:srgbClr val="C8102E"/>
                </a:solidFill>
                <a:latin typeface="Arial"/>
              </a:rPr>
              <a:t>•  </a:t>
            </a:r>
            <a:r>
              <a:rPr sz="1450" b="1" i="0">
                <a:solidFill>
                  <a:srgbClr val="222222"/>
                </a:solidFill>
                <a:latin typeface="Arial"/>
              </a:rPr>
              <a:t>Input-cost volatility</a:t>
            </a:r>
            <a:r>
              <a:rPr sz="1450" b="0" i="0">
                <a:solidFill>
                  <a:srgbClr val="222222"/>
                </a:solidFill>
                <a:latin typeface="Arial"/>
              </a:rPr>
              <a:t> (steel, energy, components) and supply-chain tensions.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1000"/>
              </a:spcAft>
            </a:pPr>
            <a:r>
              <a:rPr sz="1450" b="0" i="0">
                <a:solidFill>
                  <a:srgbClr val="C8102E"/>
                </a:solidFill>
                <a:latin typeface="Arial"/>
              </a:rPr>
              <a:t>•  </a:t>
            </a:r>
            <a:r>
              <a:rPr sz="1450" b="1" i="0">
                <a:solidFill>
                  <a:srgbClr val="222222"/>
                </a:solidFill>
                <a:latin typeface="Arial"/>
              </a:rPr>
              <a:t>FX &amp; country risk</a:t>
            </a:r>
            <a:r>
              <a:rPr sz="1450" b="0" i="0">
                <a:solidFill>
                  <a:srgbClr val="222222"/>
                </a:solidFill>
                <a:latin typeface="Arial"/>
              </a:rPr>
              <a:t> on export projects; qualified competition (Cannon/Afros, KraussMaffei) → price pressure.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1000"/>
              </a:spcAft>
            </a:pPr>
            <a:r>
              <a:rPr sz="1450" b="0" i="0">
                <a:solidFill>
                  <a:srgbClr val="C8102E"/>
                </a:solidFill>
                <a:latin typeface="Arial"/>
              </a:rPr>
              <a:t>•  </a:t>
            </a:r>
            <a:r>
              <a:rPr sz="1450" b="1" i="0">
                <a:solidFill>
                  <a:srgbClr val="222222"/>
                </a:solidFill>
                <a:latin typeface="Arial"/>
              </a:rPr>
              <a:t>Order concentration</a:t>
            </a:r>
            <a:r>
              <a:rPr sz="1450" b="0" i="0">
                <a:solidFill>
                  <a:srgbClr val="222222"/>
                </a:solidFill>
                <a:latin typeface="Arial"/>
              </a:rPr>
              <a:t> on single large projects; warranty / performance-bond exposure.</a:t>
            </a:r>
          </a:p>
        </p:txBody>
      </p:sp>
      <p:sp>
        <p:nvSpPr>
          <p:cNvPr id="16" name="Rectangle 15"/>
          <p:cNvSpPr/>
          <p:nvPr/>
        </p:nvSpPr>
        <p:spPr>
          <a:xfrm>
            <a:off x="381000" y="5471160"/>
            <a:ext cx="11430000" cy="731520"/>
          </a:xfrm>
          <a:prstGeom prst="rect">
            <a:avLst/>
          </a:prstGeom>
          <a:solidFill>
            <a:srgbClr val="EEF2F7"/>
          </a:solidFill>
          <a:ln w="12700">
            <a:solidFill>
              <a:srgbClr val="CDD8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563880" y="5547360"/>
            <a:ext cx="11064240" cy="609600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400" b="1" i="0">
                <a:solidFill>
                  <a:srgbClr val="1F3A5F"/>
                </a:solidFill>
                <a:latin typeface="Arial"/>
              </a:rPr>
              <a:t>Net read:  </a:t>
            </a:r>
            <a:r>
              <a:rPr sz="1400" b="0" i="0">
                <a:solidFill>
                  <a:srgbClr val="333333"/>
                </a:solidFill>
                <a:latin typeface="Arial"/>
              </a:rPr>
              <a:t>structurally-supported demand on a cyclical, execution-heavy model. The thesis hinges on </a:t>
            </a:r>
            <a:r>
              <a:rPr sz="1400" b="1" i="0">
                <a:solidFill>
                  <a:srgbClr val="333333"/>
                </a:solidFill>
                <a:latin typeface="Arial"/>
              </a:rPr>
              <a:t>smoothing the cycle</a:t>
            </a:r>
            <a:r>
              <a:rPr sz="1400" b="0" i="0">
                <a:solidFill>
                  <a:srgbClr val="333333"/>
                </a:solidFill>
                <a:latin typeface="Arial"/>
              </a:rPr>
              <a:t> (backlog &amp; pricing discipline) and </a:t>
            </a:r>
            <a:r>
              <a:rPr sz="1400" b="1" i="0">
                <a:solidFill>
                  <a:srgbClr val="333333"/>
                </a:solidFill>
                <a:latin typeface="Arial"/>
              </a:rPr>
              <a:t>scaling the recurring aftermarket</a:t>
            </a:r>
            <a:r>
              <a:rPr sz="1400" b="0" i="0">
                <a:solidFill>
                  <a:srgbClr val="333333"/>
                </a:solidFill>
                <a:latin typeface="Arial"/>
              </a:rPr>
              <a:t> to lift and stabilise margins.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81000" y="6598920"/>
            <a:ext cx="9906000" cy="15240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0" i="0">
                <a:solidFill>
                  <a:srgbClr val="999999"/>
                </a:solidFill>
                <a:latin typeface="Arial"/>
              </a:rPr>
              <a:t>Drivers synthesised from the dossier (sections 3, 5, 9, 11) and public industry sources.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0960"/>
          </a:xfrm>
          <a:prstGeom prst="rect">
            <a:avLst/>
          </a:prstGeom>
          <a:solidFill>
            <a:srgbClr val="C810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81000" y="228600"/>
            <a:ext cx="8382000" cy="38100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2600" b="1" i="0">
                <a:solidFill>
                  <a:srgbClr val="1F3A5F"/>
                </a:solidFill>
                <a:latin typeface="Arial"/>
              </a:rPr>
              <a:t>Investment thesis — value, risks &amp; recommendation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81000" y="594360"/>
            <a:ext cx="9144000" cy="22860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0" i="0">
                <a:solidFill>
                  <a:srgbClr val="666666"/>
                </a:solidFill>
                <a:latin typeface="Arial"/>
              </a:rPr>
              <a:t>Margin-recovery &amp; aftermarket story on a structurally-supported PU platform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763000" y="198120"/>
            <a:ext cx="3048000" cy="16764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0" i="0">
                <a:solidFill>
                  <a:srgbClr val="999999"/>
                </a:solidFill>
                <a:latin typeface="Arial"/>
              </a:rPr>
              <a:t>CONFIDENTIAL · For Board discussion</a:t>
            </a:r>
          </a:p>
        </p:txBody>
      </p:sp>
      <p:sp>
        <p:nvSpPr>
          <p:cNvPr id="6" name="Rectangle 5"/>
          <p:cNvSpPr/>
          <p:nvPr/>
        </p:nvSpPr>
        <p:spPr>
          <a:xfrm>
            <a:off x="381000" y="6537960"/>
            <a:ext cx="11430000" cy="7620"/>
          </a:xfrm>
          <a:prstGeom prst="rect">
            <a:avLst/>
          </a:prstGeom>
          <a:solidFill>
            <a:srgbClr val="DFE4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668000" y="6598920"/>
            <a:ext cx="1143000" cy="15240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1" i="0">
                <a:solidFill>
                  <a:srgbClr val="1F3A5F"/>
                </a:solidFill>
                <a:latin typeface="Arial"/>
              </a:rPr>
              <a:t>7 / 7</a:t>
            </a:r>
          </a:p>
        </p:txBody>
      </p:sp>
      <p:sp>
        <p:nvSpPr>
          <p:cNvPr id="8" name="Rectangle 7"/>
          <p:cNvSpPr/>
          <p:nvPr/>
        </p:nvSpPr>
        <p:spPr>
          <a:xfrm>
            <a:off x="381000" y="952500"/>
            <a:ext cx="3657600" cy="4267200"/>
          </a:xfrm>
          <a:prstGeom prst="rect">
            <a:avLst/>
          </a:prstGeom>
          <a:solidFill>
            <a:srgbClr val="FFFFFF"/>
          </a:solidFill>
          <a:ln w="12700">
            <a:solidFill>
              <a:srgbClr val="DFE4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381000" y="952500"/>
            <a:ext cx="3657600" cy="350520"/>
          </a:xfrm>
          <a:prstGeom prst="rect">
            <a:avLst/>
          </a:prstGeom>
          <a:solidFill>
            <a:srgbClr val="2E7D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48640" y="952500"/>
            <a:ext cx="3429000" cy="350520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500" b="1" i="0">
                <a:solidFill>
                  <a:srgbClr val="FFFFFF"/>
                </a:solidFill>
                <a:latin typeface="Arial"/>
              </a:rPr>
              <a:t>Value-creation levers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63880" y="1417320"/>
            <a:ext cx="3291840" cy="251460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1100"/>
              </a:spcAft>
            </a:pPr>
            <a:r>
              <a:rPr sz="1500" b="0" i="0">
                <a:solidFill>
                  <a:srgbClr val="2E7D4F"/>
                </a:solidFill>
                <a:latin typeface="Arial"/>
              </a:rPr>
              <a:t>•  </a:t>
            </a:r>
            <a:r>
              <a:rPr sz="1500" b="1" i="0">
                <a:solidFill>
                  <a:srgbClr val="222222"/>
                </a:solidFill>
                <a:latin typeface="Arial"/>
              </a:rPr>
              <a:t>Margin recovery 3.5% → 6-8%</a:t>
            </a:r>
            <a:r>
              <a:rPr sz="1500" b="0" i="0">
                <a:solidFill>
                  <a:srgbClr val="222222"/>
                </a:solidFill>
                <a:latin typeface="Arial"/>
              </a:rPr>
              <a:t> via fixed-cost efficiency.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1100"/>
              </a:spcAft>
            </a:pPr>
            <a:r>
              <a:rPr sz="1500" b="0" i="0">
                <a:solidFill>
                  <a:srgbClr val="2E7D4F"/>
                </a:solidFill>
                <a:latin typeface="Arial"/>
              </a:rPr>
              <a:t>•  </a:t>
            </a:r>
            <a:r>
              <a:rPr sz="1500" b="0" i="0">
                <a:solidFill>
                  <a:srgbClr val="222222"/>
                </a:solidFill>
                <a:latin typeface="Arial"/>
              </a:rPr>
              <a:t>Grow the recurring </a:t>
            </a:r>
            <a:r>
              <a:rPr sz="1500" b="1" i="0">
                <a:solidFill>
                  <a:srgbClr val="222222"/>
                </a:solidFill>
                <a:latin typeface="Arial"/>
              </a:rPr>
              <a:t>aftermarket</a:t>
            </a:r>
            <a:r>
              <a:rPr sz="1500" b="0" i="0">
                <a:solidFill>
                  <a:srgbClr val="222222"/>
                </a:solidFill>
                <a:latin typeface="Arial"/>
              </a:rPr>
              <a:t> (service, spares, retrofit).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1100"/>
              </a:spcAft>
            </a:pPr>
            <a:r>
              <a:rPr sz="1500" b="0" i="0">
                <a:solidFill>
                  <a:srgbClr val="2E7D4F"/>
                </a:solidFill>
                <a:latin typeface="Arial"/>
              </a:rPr>
              <a:t>•  </a:t>
            </a:r>
            <a:r>
              <a:rPr sz="1500" b="0" i="0">
                <a:solidFill>
                  <a:srgbClr val="222222"/>
                </a:solidFill>
                <a:latin typeface="Arial"/>
              </a:rPr>
              <a:t>Working-capital optimisation (already underway: DIO 119→66).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1100"/>
              </a:spcAft>
            </a:pPr>
            <a:r>
              <a:rPr sz="1500" b="0" i="0">
                <a:solidFill>
                  <a:srgbClr val="2E7D4F"/>
                </a:solidFill>
                <a:latin typeface="Arial"/>
              </a:rPr>
              <a:t>•  </a:t>
            </a:r>
            <a:r>
              <a:rPr sz="1500" b="0" i="0">
                <a:solidFill>
                  <a:srgbClr val="222222"/>
                </a:solidFill>
                <a:latin typeface="Arial"/>
              </a:rPr>
              <a:t>Backlog normalisation &amp; pricing discipline on projects.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1100"/>
              </a:spcAft>
            </a:pPr>
            <a:r>
              <a:rPr sz="1500" b="0" i="0">
                <a:solidFill>
                  <a:srgbClr val="2E7D4F"/>
                </a:solidFill>
                <a:latin typeface="Arial"/>
              </a:rPr>
              <a:t>•  </a:t>
            </a:r>
            <a:r>
              <a:rPr sz="1500" b="0" i="0">
                <a:solidFill>
                  <a:srgbClr val="222222"/>
                </a:solidFill>
                <a:latin typeface="Arial"/>
              </a:rPr>
              <a:t>Optional </a:t>
            </a:r>
            <a:r>
              <a:rPr sz="1500" b="1" i="0">
                <a:solidFill>
                  <a:srgbClr val="222222"/>
                </a:solidFill>
                <a:latin typeface="Arial"/>
              </a:rPr>
              <a:t>buy-and-build</a:t>
            </a:r>
            <a:r>
              <a:rPr sz="1500" b="0" i="0">
                <a:solidFill>
                  <a:srgbClr val="222222"/>
                </a:solidFill>
                <a:latin typeface="Arial"/>
              </a:rPr>
              <a:t> in PU / adjacent capital-goods machinery.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63880" y="4076700"/>
            <a:ext cx="3291840" cy="975360"/>
          </a:xfrm>
          <a:prstGeom prst="rect">
            <a:avLst/>
          </a:prstGeom>
          <a:solidFill>
            <a:srgbClr val="EEF6F0"/>
          </a:solidFill>
          <a:ln w="12700">
            <a:solidFill>
              <a:srgbClr val="CFE6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16280" y="4168140"/>
            <a:ext cx="2987040" cy="83820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500"/>
              </a:spcAft>
            </a:pPr>
            <a:r>
              <a:rPr sz="1400" b="1" i="0">
                <a:solidFill>
                  <a:srgbClr val="2E7D4F"/>
                </a:solidFill>
                <a:latin typeface="Arial"/>
              </a:rPr>
              <a:t>Structural demand drivers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400" b="0" i="0">
                <a:solidFill>
                  <a:srgbClr val="333333"/>
                </a:solidFill>
                <a:latin typeface="Arial"/>
              </a:rPr>
              <a:t>Building energy efficiency (insulating panels) · cold chain · e-mobility · blowing-agent transition (HFO/pentane).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267200" y="952500"/>
            <a:ext cx="3657600" cy="4267200"/>
          </a:xfrm>
          <a:prstGeom prst="rect">
            <a:avLst/>
          </a:prstGeom>
          <a:solidFill>
            <a:srgbClr val="FFFFFF"/>
          </a:solidFill>
          <a:ln w="12700">
            <a:solidFill>
              <a:srgbClr val="DFE4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4267200" y="952500"/>
            <a:ext cx="3657600" cy="350520"/>
          </a:xfrm>
          <a:prstGeom prst="rect">
            <a:avLst/>
          </a:prstGeom>
          <a:solidFill>
            <a:srgbClr val="C810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434840" y="952500"/>
            <a:ext cx="3429000" cy="350520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500" b="1" i="0">
                <a:solidFill>
                  <a:srgbClr val="FFFFFF"/>
                </a:solidFill>
                <a:latin typeface="Arial"/>
              </a:rPr>
              <a:t>Key risks &amp; cautions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450080" y="1417320"/>
            <a:ext cx="3291840" cy="251460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1100"/>
              </a:spcAft>
            </a:pPr>
            <a:r>
              <a:rPr sz="1500" b="0" i="0">
                <a:solidFill>
                  <a:srgbClr val="C8102E"/>
                </a:solidFill>
                <a:latin typeface="Arial"/>
              </a:rPr>
              <a:t>•  </a:t>
            </a:r>
            <a:r>
              <a:rPr sz="1500" b="1" i="0">
                <a:solidFill>
                  <a:srgbClr val="222222"/>
                </a:solidFill>
                <a:latin typeface="Arial"/>
              </a:rPr>
              <a:t>Thin, volatile margins</a:t>
            </a:r>
            <a:r>
              <a:rPr sz="1500" b="0" i="0">
                <a:solidFill>
                  <a:srgbClr val="222222"/>
                </a:solidFill>
                <a:latin typeface="Arial"/>
              </a:rPr>
              <a:t>; 2024 operating loss (-€1.0M EBIT).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1100"/>
              </a:spcAft>
            </a:pPr>
            <a:r>
              <a:rPr sz="1500" b="0" i="0">
                <a:solidFill>
                  <a:srgbClr val="C8102E"/>
                </a:solidFill>
                <a:latin typeface="Arial"/>
              </a:rPr>
              <a:t>•  </a:t>
            </a:r>
            <a:r>
              <a:rPr sz="1500" b="1" i="0">
                <a:solidFill>
                  <a:srgbClr val="222222"/>
                </a:solidFill>
                <a:latin typeface="Arial"/>
              </a:rPr>
              <a:t>Captive nature</a:t>
            </a:r>
            <a:r>
              <a:rPr sz="1500" b="0" i="0">
                <a:solidFill>
                  <a:srgbClr val="222222"/>
                </a:solidFill>
                <a:latin typeface="Arial"/>
              </a:rPr>
              <a:t> → carve-out complexity (brand, IT, shared svcs).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1100"/>
              </a:spcAft>
            </a:pPr>
            <a:r>
              <a:rPr sz="1500" b="0" i="0">
                <a:solidFill>
                  <a:srgbClr val="C8102E"/>
                </a:solidFill>
                <a:latin typeface="Arial"/>
              </a:rPr>
              <a:t>•  </a:t>
            </a:r>
            <a:r>
              <a:rPr sz="1500" b="0" i="0">
                <a:solidFill>
                  <a:srgbClr val="222222"/>
                </a:solidFill>
                <a:latin typeface="Arial"/>
              </a:rPr>
              <a:t>Heavy </a:t>
            </a:r>
            <a:r>
              <a:rPr sz="1500" b="1" i="0">
                <a:solidFill>
                  <a:srgbClr val="222222"/>
                </a:solidFill>
                <a:latin typeface="Arial"/>
              </a:rPr>
              <a:t>intercompany</a:t>
            </a:r>
            <a:r>
              <a:rPr sz="1500" b="0" i="0">
                <a:solidFill>
                  <a:srgbClr val="222222"/>
                </a:solidFill>
                <a:latin typeface="Arial"/>
              </a:rPr>
              <a:t> ties &amp; group treasury — limited autonomy.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1100"/>
              </a:spcAft>
            </a:pPr>
            <a:r>
              <a:rPr sz="1500" b="0" i="0">
                <a:solidFill>
                  <a:srgbClr val="C8102E"/>
                </a:solidFill>
                <a:latin typeface="Arial"/>
              </a:rPr>
              <a:t>•  </a:t>
            </a:r>
            <a:r>
              <a:rPr sz="1500" b="1" i="0">
                <a:solidFill>
                  <a:srgbClr val="222222"/>
                </a:solidFill>
                <a:latin typeface="Arial"/>
              </a:rPr>
              <a:t>Pledged shares</a:t>
            </a:r>
            <a:r>
              <a:rPr sz="1500" b="0" i="0">
                <a:solidFill>
                  <a:srgbClr val="222222"/>
                </a:solidFill>
                <a:latin typeface="Arial"/>
              </a:rPr>
              <a:t> to be released; thin equity (€6.0M).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1100"/>
              </a:spcAft>
            </a:pPr>
            <a:r>
              <a:rPr sz="1500" b="0" i="0">
                <a:solidFill>
                  <a:srgbClr val="C8102E"/>
                </a:solidFill>
                <a:latin typeface="Arial"/>
              </a:rPr>
              <a:t>•  </a:t>
            </a:r>
            <a:r>
              <a:rPr sz="1500" b="1" i="0">
                <a:solidFill>
                  <a:srgbClr val="222222"/>
                </a:solidFill>
                <a:latin typeface="Arial"/>
              </a:rPr>
              <a:t>Intangibles €12.0M</a:t>
            </a:r>
            <a:r>
              <a:rPr sz="1500" b="0" i="0">
                <a:solidFill>
                  <a:srgbClr val="222222"/>
                </a:solidFill>
                <a:latin typeface="Arial"/>
              </a:rPr>
              <a:t> — impairment risk; cyclicality &amp; execution risk.</a:t>
            </a:r>
          </a:p>
        </p:txBody>
      </p:sp>
      <p:sp>
        <p:nvSpPr>
          <p:cNvPr id="18" name="Rectangle 17"/>
          <p:cNvSpPr/>
          <p:nvPr/>
        </p:nvSpPr>
        <p:spPr>
          <a:xfrm>
            <a:off x="4450080" y="4076700"/>
            <a:ext cx="3291840" cy="975360"/>
          </a:xfrm>
          <a:prstGeom prst="rect">
            <a:avLst/>
          </a:prstGeom>
          <a:solidFill>
            <a:srgbClr val="FDEEF0"/>
          </a:solidFill>
          <a:ln w="12700">
            <a:solidFill>
              <a:srgbClr val="F3C5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602480" y="4168140"/>
            <a:ext cx="2987040" cy="83820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500"/>
              </a:spcAft>
            </a:pPr>
            <a:r>
              <a:rPr sz="1400" b="1" i="0">
                <a:solidFill>
                  <a:srgbClr val="C8102E"/>
                </a:solidFill>
                <a:latin typeface="Arial"/>
              </a:rPr>
              <a:t>Mitigants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400" b="0" i="0">
                <a:solidFill>
                  <a:srgbClr val="333333"/>
                </a:solidFill>
                <a:latin typeface="Arial"/>
              </a:rPr>
              <a:t>Light balance sheet &amp; high liquidity; global installed base; world-class group R&amp;D and sales network behind the asset.</a:t>
            </a:r>
          </a:p>
        </p:txBody>
      </p:sp>
      <p:sp>
        <p:nvSpPr>
          <p:cNvPr id="20" name="Rectangle 19"/>
          <p:cNvSpPr/>
          <p:nvPr/>
        </p:nvSpPr>
        <p:spPr>
          <a:xfrm>
            <a:off x="8153400" y="952500"/>
            <a:ext cx="3657600" cy="4267200"/>
          </a:xfrm>
          <a:prstGeom prst="rect">
            <a:avLst/>
          </a:prstGeom>
          <a:solidFill>
            <a:srgbClr val="FFFFFF"/>
          </a:solidFill>
          <a:ln w="12700">
            <a:solidFill>
              <a:srgbClr val="DFE4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8153400" y="952500"/>
            <a:ext cx="3657600" cy="350520"/>
          </a:xfrm>
          <a:prstGeom prst="rect">
            <a:avLst/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8321040" y="952500"/>
            <a:ext cx="3429000" cy="350520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500" b="1" i="0">
                <a:solidFill>
                  <a:srgbClr val="FFFFFF"/>
                </a:solidFill>
                <a:latin typeface="Arial"/>
              </a:rPr>
              <a:t>Valuation &amp; next steps</a:t>
            </a:r>
          </a:p>
        </p:txBody>
      </p:sp>
      <p:sp>
        <p:nvSpPr>
          <p:cNvPr id="23" name="Rectangle 22"/>
          <p:cNvSpPr/>
          <p:nvPr/>
        </p:nvSpPr>
        <p:spPr>
          <a:xfrm>
            <a:off x="8336280" y="1463040"/>
            <a:ext cx="3291840" cy="701040"/>
          </a:xfrm>
          <a:prstGeom prst="rect">
            <a:avLst/>
          </a:prstGeom>
          <a:solidFill>
            <a:srgbClr val="EEF2F7"/>
          </a:solidFill>
          <a:ln w="12700">
            <a:solidFill>
              <a:srgbClr val="CDD8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8458200" y="1524000"/>
            <a:ext cx="3048000" cy="594360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400" b="0" i="0">
                <a:solidFill>
                  <a:srgbClr val="666666"/>
                </a:solidFill>
                <a:latin typeface="Arial"/>
              </a:rPr>
              <a:t>Indicative EV/EBITDA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800" b="1" i="0">
                <a:solidFill>
                  <a:srgbClr val="1F3A5F"/>
                </a:solidFill>
                <a:latin typeface="Arial"/>
              </a:rPr>
              <a:t>6–9x</a:t>
            </a:r>
            <a:r>
              <a:rPr sz="1500" b="0" i="0">
                <a:solidFill>
                  <a:srgbClr val="999999"/>
                </a:solidFill>
                <a:latin typeface="Arial"/>
              </a:rPr>
              <a:t>   (5–7x small-cap)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336280" y="2255520"/>
            <a:ext cx="3291840" cy="68580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400" b="0" i="0">
                <a:solidFill>
                  <a:srgbClr val="333333"/>
                </a:solidFill>
                <a:latin typeface="Arial"/>
              </a:rPr>
              <a:t>Value on </a:t>
            </a:r>
            <a:r>
              <a:rPr sz="1400" b="1" i="0">
                <a:solidFill>
                  <a:srgbClr val="333333"/>
                </a:solidFill>
                <a:latin typeface="Arial"/>
              </a:rPr>
              <a:t>normalised EBITDA</a:t>
            </a:r>
            <a:r>
              <a:rPr sz="1400" b="0" i="0">
                <a:solidFill>
                  <a:srgbClr val="333333"/>
                </a:solidFill>
                <a:latin typeface="Arial"/>
              </a:rPr>
              <a:t>, not the depressed 2024 figure; consider asset value.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336280" y="2895600"/>
            <a:ext cx="3291840" cy="1981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500" b="1" i="0">
                <a:solidFill>
                  <a:srgbClr val="1F3A5F"/>
                </a:solidFill>
                <a:latin typeface="Arial"/>
              </a:rPr>
              <a:t>Proceed to focused Due Diligence: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336280" y="3108960"/>
            <a:ext cx="3291840" cy="121920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700"/>
              </a:spcAft>
            </a:pPr>
            <a:r>
              <a:rPr sz="1400" b="0" i="0">
                <a:solidFill>
                  <a:srgbClr val="1F3A5F"/>
                </a:solidFill>
                <a:latin typeface="Arial"/>
              </a:rPr>
              <a:t>•  </a:t>
            </a:r>
            <a:r>
              <a:rPr sz="1400" b="0" i="0">
                <a:solidFill>
                  <a:srgbClr val="222222"/>
                </a:solidFill>
                <a:latin typeface="Arial"/>
              </a:rPr>
              <a:t>Transfer pricing &amp; intercompany flows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700"/>
              </a:spcAft>
            </a:pPr>
            <a:r>
              <a:rPr sz="1400" b="0" i="0">
                <a:solidFill>
                  <a:srgbClr val="1F3A5F"/>
                </a:solidFill>
                <a:latin typeface="Arial"/>
              </a:rPr>
              <a:t>•  </a:t>
            </a:r>
            <a:r>
              <a:rPr sz="1400" b="0" i="0">
                <a:solidFill>
                  <a:srgbClr val="222222"/>
                </a:solidFill>
                <a:latin typeface="Arial"/>
              </a:rPr>
              <a:t>Backlog &amp; project margins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700"/>
              </a:spcAft>
            </a:pPr>
            <a:r>
              <a:rPr sz="1400" b="0" i="0">
                <a:solidFill>
                  <a:srgbClr val="1F3A5F"/>
                </a:solidFill>
                <a:latin typeface="Arial"/>
              </a:rPr>
              <a:t>•  </a:t>
            </a:r>
            <a:r>
              <a:rPr sz="1400" b="0" i="0">
                <a:solidFill>
                  <a:srgbClr val="222222"/>
                </a:solidFill>
                <a:latin typeface="Arial"/>
              </a:rPr>
              <a:t>Carve-out feasibility (brand / IT / people)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700"/>
              </a:spcAft>
            </a:pPr>
            <a:r>
              <a:rPr sz="1400" b="0" i="0">
                <a:solidFill>
                  <a:srgbClr val="1F3A5F"/>
                </a:solidFill>
                <a:latin typeface="Arial"/>
              </a:rPr>
              <a:t>•  </a:t>
            </a:r>
            <a:r>
              <a:rPr sz="1400" b="0" i="0">
                <a:solidFill>
                  <a:srgbClr val="222222"/>
                </a:solidFill>
                <a:latin typeface="Arial"/>
              </a:rPr>
              <a:t>EBITDA normalisation &amp; true net debt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700"/>
              </a:spcAft>
            </a:pPr>
            <a:r>
              <a:rPr sz="1400" b="0" i="0">
                <a:solidFill>
                  <a:srgbClr val="1F3A5F"/>
                </a:solidFill>
                <a:latin typeface="Arial"/>
              </a:rPr>
              <a:t>•  </a:t>
            </a:r>
            <a:r>
              <a:rPr sz="1400" b="0" i="0">
                <a:solidFill>
                  <a:srgbClr val="222222"/>
                </a:solidFill>
                <a:latin typeface="Arial"/>
              </a:rPr>
              <a:t>Share-pledge release &amp; intangibles testing</a:t>
            </a:r>
          </a:p>
        </p:txBody>
      </p:sp>
      <p:sp>
        <p:nvSpPr>
          <p:cNvPr id="28" name="Rectangle 27"/>
          <p:cNvSpPr/>
          <p:nvPr/>
        </p:nvSpPr>
        <p:spPr>
          <a:xfrm>
            <a:off x="8336280" y="4457700"/>
            <a:ext cx="3291840" cy="594360"/>
          </a:xfrm>
          <a:prstGeom prst="rect">
            <a:avLst/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8336280" y="4518660"/>
            <a:ext cx="3291840" cy="487680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</a:pPr>
            <a:r>
              <a:rPr sz="1300" b="0" i="0">
                <a:solidFill>
                  <a:srgbClr val="CDD8E6"/>
                </a:solidFill>
                <a:latin typeface="Arial"/>
              </a:rPr>
              <a:t>RECOMMENDATION</a:t>
            </a:r>
          </a:p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700" b="1" i="0">
                <a:solidFill>
                  <a:srgbClr val="FFFFFF"/>
                </a:solidFill>
                <a:latin typeface="Arial"/>
              </a:rPr>
              <a:t>Approve progression to Phase-2 DD</a:t>
            </a:r>
          </a:p>
        </p:txBody>
      </p:sp>
      <p:sp>
        <p:nvSpPr>
          <p:cNvPr id="30" name="Rectangle 29"/>
          <p:cNvSpPr/>
          <p:nvPr/>
        </p:nvSpPr>
        <p:spPr>
          <a:xfrm>
            <a:off x="381000" y="5372100"/>
            <a:ext cx="11430000" cy="914400"/>
          </a:xfrm>
          <a:prstGeom prst="rect">
            <a:avLst/>
          </a:prstGeom>
          <a:solidFill>
            <a:srgbClr val="F7F8FA"/>
          </a:solidFill>
          <a:ln w="12700">
            <a:solidFill>
              <a:srgbClr val="DFE4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563880" y="5455920"/>
            <a:ext cx="11064240" cy="80010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500"/>
              </a:spcAft>
            </a:pPr>
            <a:r>
              <a:rPr sz="1600" b="1" i="0">
                <a:solidFill>
                  <a:srgbClr val="1F3A5F"/>
                </a:solidFill>
                <a:latin typeface="Arial"/>
              </a:rPr>
              <a:t>Bottom line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500" b="0" i="0">
                <a:solidFill>
                  <a:srgbClr val="333333"/>
                </a:solidFill>
                <a:latin typeface="Arial"/>
              </a:rPr>
              <a:t>A historic-brand PU engineering platform with a global installed base and structural tailwinds, currently held back by cyclical, thin margins. The opportunity is a </a:t>
            </a:r>
            <a:r>
              <a:rPr sz="1500" b="1" i="0">
                <a:solidFill>
                  <a:srgbClr val="333333"/>
                </a:solidFill>
                <a:latin typeface="Arial"/>
              </a:rPr>
              <a:t>margin-normalisation &amp; aftermarket</a:t>
            </a:r>
            <a:r>
              <a:rPr sz="1500" b="0" i="0">
                <a:solidFill>
                  <a:srgbClr val="333333"/>
                </a:solidFill>
                <a:latin typeface="Arial"/>
              </a:rPr>
              <a:t> play — execution and carve-out feasibility are the swing factors.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381000" y="6598920"/>
            <a:ext cx="7620000" cy="15240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0" i="0">
                <a:solidFill>
                  <a:srgbClr val="999999"/>
                </a:solidFill>
                <a:latin typeface="Arial"/>
              </a:rPr>
              <a:t>For Board discussion — not an investment recommendation; subject to specialist Due Diligence.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2000" cy="76200"/>
          </a:xfrm>
          <a:prstGeom prst="rect">
            <a:avLst/>
          </a:prstGeom>
          <a:solidFill>
            <a:srgbClr val="C810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1714500"/>
            <a:ext cx="4572000" cy="21336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500" b="0" i="0">
                <a:solidFill>
                  <a:srgbClr val="9FB2C8"/>
                </a:solidFill>
                <a:latin typeface="Arial"/>
              </a:rPr>
              <a:t>DISCUSSION</a:t>
            </a:r>
          </a:p>
        </p:txBody>
      </p:sp>
      <p:sp>
        <p:nvSpPr>
          <p:cNvPr id="5" name="Rectangle 4"/>
          <p:cNvSpPr/>
          <p:nvPr/>
        </p:nvSpPr>
        <p:spPr>
          <a:xfrm>
            <a:off x="914400" y="2072640"/>
            <a:ext cx="685800" cy="38100"/>
          </a:xfrm>
          <a:prstGeom prst="rect">
            <a:avLst/>
          </a:prstGeom>
          <a:solidFill>
            <a:srgbClr val="C810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83920" y="2286000"/>
            <a:ext cx="9144000" cy="83820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6200" b="1" i="0">
                <a:solidFill>
                  <a:srgbClr val="FFFFFF"/>
                </a:solidFill>
                <a:latin typeface="Arial"/>
              </a:rPr>
              <a:t>Questions &amp; discussion</a:t>
            </a:r>
          </a:p>
        </p:txBody>
      </p:sp>
      <p:sp>
        <p:nvSpPr>
          <p:cNvPr id="7" name="Rectangle 6"/>
          <p:cNvSpPr/>
          <p:nvPr/>
        </p:nvSpPr>
        <p:spPr>
          <a:xfrm>
            <a:off x="914400" y="3276600"/>
            <a:ext cx="6858000" cy="701040"/>
          </a:xfrm>
          <a:prstGeom prst="rect">
            <a:avLst/>
          </a:prstGeom>
          <a:solidFill>
            <a:srgbClr val="C810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27760" y="3368040"/>
            <a:ext cx="6477000" cy="533400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</a:pPr>
            <a:r>
              <a:rPr sz="1300" b="0" i="0">
                <a:solidFill>
                  <a:srgbClr val="FFD7DC"/>
                </a:solidFill>
                <a:latin typeface="Arial"/>
              </a:rPr>
              <a:t>RECOMMENDATION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2400" b="1" i="0">
                <a:solidFill>
                  <a:srgbClr val="FFFFFF"/>
                </a:solidFill>
                <a:latin typeface="Arial"/>
              </a:rPr>
              <a:t>Approve progression to Phase-2 Due Diligence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14400" y="4267200"/>
            <a:ext cx="6096000" cy="22860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2000" b="1" i="0">
                <a:solidFill>
                  <a:srgbClr val="F2C200"/>
                </a:solidFill>
                <a:latin typeface="Arial"/>
              </a:rPr>
              <a:t>Key questions to align on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14400" y="4572000"/>
            <a:ext cx="7162800" cy="167640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</a:pPr>
            <a:r>
              <a:rPr sz="1800" b="0" i="0">
                <a:solidFill>
                  <a:srgbClr val="C8102E"/>
                </a:solidFill>
                <a:latin typeface="Arial"/>
              </a:rPr>
              <a:t>•  </a:t>
            </a:r>
            <a:r>
              <a:rPr sz="1800" b="0" i="0">
                <a:solidFill>
                  <a:srgbClr val="E3E9F1"/>
                </a:solidFill>
                <a:latin typeface="Arial"/>
              </a:rPr>
              <a:t>Preferred structure: carve-out of the Italian entity vs whole-Group platform?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</a:pPr>
            <a:r>
              <a:rPr sz="1800" b="0" i="0">
                <a:solidFill>
                  <a:srgbClr val="C8102E"/>
                </a:solidFill>
                <a:latin typeface="Arial"/>
              </a:rPr>
              <a:t>•  </a:t>
            </a:r>
            <a:r>
              <a:rPr sz="1800" b="0" i="0">
                <a:solidFill>
                  <a:srgbClr val="E3E9F1"/>
                </a:solidFill>
                <a:latin typeface="Arial"/>
              </a:rPr>
              <a:t>Risk appetite on the captive / intercompany &amp; carve-out complexity?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</a:pPr>
            <a:r>
              <a:rPr sz="1800" b="0" i="0">
                <a:solidFill>
                  <a:srgbClr val="C8102E"/>
                </a:solidFill>
                <a:latin typeface="Arial"/>
              </a:rPr>
              <a:t>•  </a:t>
            </a:r>
            <a:r>
              <a:rPr sz="1800" b="0" i="0">
                <a:solidFill>
                  <a:srgbClr val="E3E9F1"/>
                </a:solidFill>
                <a:latin typeface="Arial"/>
              </a:rPr>
              <a:t>Valuation basis — normalised EBITDA assumptions and entry multiple?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</a:pPr>
            <a:r>
              <a:rPr sz="1800" b="0" i="0">
                <a:solidFill>
                  <a:srgbClr val="C8102E"/>
                </a:solidFill>
                <a:latin typeface="Arial"/>
              </a:rPr>
              <a:t>•  </a:t>
            </a:r>
            <a:r>
              <a:rPr sz="1800" b="0" i="0">
                <a:solidFill>
                  <a:srgbClr val="E3E9F1"/>
                </a:solidFill>
                <a:latin typeface="Arial"/>
              </a:rPr>
              <a:t>Budget &amp; timeline for Phase-2 DD (financial, commercial, legal, tax)?</a:t>
            </a:r>
          </a:p>
        </p:txBody>
      </p:sp>
      <p:sp>
        <p:nvSpPr>
          <p:cNvPr id="11" name="Rectangle 10"/>
          <p:cNvSpPr/>
          <p:nvPr/>
        </p:nvSpPr>
        <p:spPr>
          <a:xfrm>
            <a:off x="8305800" y="3276600"/>
            <a:ext cx="2971800" cy="2628900"/>
          </a:xfrm>
          <a:prstGeom prst="rect">
            <a:avLst/>
          </a:prstGeom>
          <a:solidFill>
            <a:srgbClr val="284869"/>
          </a:solidFill>
          <a:ln w="12700">
            <a:solidFill>
              <a:srgbClr val="3A557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496300" y="3390900"/>
            <a:ext cx="2667000" cy="22860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700" b="1" i="0">
                <a:solidFill>
                  <a:srgbClr val="FFFFFF"/>
                </a:solidFill>
                <a:latin typeface="Arial"/>
              </a:rPr>
              <a:t>Next step</a:t>
            </a:r>
          </a:p>
        </p:txBody>
      </p:sp>
      <p:sp>
        <p:nvSpPr>
          <p:cNvPr id="13" name="Rectangle 12"/>
          <p:cNvSpPr/>
          <p:nvPr/>
        </p:nvSpPr>
        <p:spPr>
          <a:xfrm>
            <a:off x="8496300" y="3672840"/>
            <a:ext cx="2590800" cy="7620"/>
          </a:xfrm>
          <a:prstGeom prst="rect">
            <a:avLst/>
          </a:prstGeom>
          <a:solidFill>
            <a:srgbClr val="3A55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496300" y="3779520"/>
            <a:ext cx="2667000" cy="106680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500" b="0" i="0">
                <a:solidFill>
                  <a:srgbClr val="CDD8E6"/>
                </a:solidFill>
                <a:latin typeface="Arial"/>
              </a:rPr>
              <a:t>Mandate the deal team to launch focused Due Diligence and return with a normalised valuation and indicative offer range.</a:t>
            </a:r>
          </a:p>
        </p:txBody>
      </p:sp>
      <p:sp>
        <p:nvSpPr>
          <p:cNvPr id="15" name="Rectangle 14"/>
          <p:cNvSpPr/>
          <p:nvPr/>
        </p:nvSpPr>
        <p:spPr>
          <a:xfrm>
            <a:off x="8496300" y="4846320"/>
            <a:ext cx="2590800" cy="15240"/>
          </a:xfrm>
          <a:prstGeom prst="rect">
            <a:avLst/>
          </a:prstGeom>
          <a:solidFill>
            <a:srgbClr val="3A55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496300" y="4998720"/>
            <a:ext cx="2667000" cy="76200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400" b="0" i="0">
                <a:solidFill>
                  <a:srgbClr val="9FB2C8"/>
                </a:solidFill>
                <a:latin typeface="Arial"/>
              </a:rPr>
              <a:t>Project lead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700" b="1" i="0">
                <a:solidFill>
                  <a:srgbClr val="FFFFFF"/>
                </a:solidFill>
                <a:latin typeface="Arial"/>
              </a:rPr>
              <a:t>Corporate Development / M&amp;A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0" i="0">
                <a:solidFill>
                  <a:srgbClr val="7E93AC"/>
                </a:solidFill>
                <a:latin typeface="Arial"/>
              </a:rPr>
              <a:t>Materials available on request</a:t>
            </a:r>
          </a:p>
        </p:txBody>
      </p:sp>
      <p:sp>
        <p:nvSpPr>
          <p:cNvPr id="17" name="Rectangle 16"/>
          <p:cNvSpPr/>
          <p:nvPr/>
        </p:nvSpPr>
        <p:spPr>
          <a:xfrm>
            <a:off x="914400" y="6263640"/>
            <a:ext cx="10363200" cy="7620"/>
          </a:xfrm>
          <a:prstGeom prst="rect">
            <a:avLst/>
          </a:prstGeom>
          <a:solidFill>
            <a:srgbClr val="2D47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14400" y="6355080"/>
            <a:ext cx="7620000" cy="16764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 i="0">
                <a:solidFill>
                  <a:srgbClr val="7E93AC"/>
                </a:solidFill>
                <a:latin typeface="Arial"/>
              </a:rPr>
              <a:t>CONFIDENTIAL — For Board discussion only. Not an investment recommendation; subject to specialist Due Diligence.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229600" y="6355080"/>
            <a:ext cx="3048000" cy="16764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 i="0">
                <a:solidFill>
                  <a:srgbClr val="7E93AC"/>
                </a:solidFill>
                <a:latin typeface="Arial"/>
              </a:rPr>
              <a:t>HENNECKE-OMS S.p.A. · June 2026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