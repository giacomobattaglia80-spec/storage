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50.4</c:v>
                </c:pt>
                <c:pt idx="1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44.2</c:v>
                </c:pt>
                <c:pt idx="1">
                  <c:v>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2-yr avg</c:v>
                </c:pt>
              </c:strCache>
            </c:strRef>
          </c:tx>
          <c:spPr>
            <a:solidFill>
              <a:srgbClr val="F2C200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47.3</c:v>
                </c:pt>
                <c:pt idx="1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· 2024 · 2-yr average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P&amp;L recap — cost structure (2023 · 2024 · normalised)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Averaging both years nets out the project-cycle WIP swing → a normalised run-rate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6600" y="1257300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1577340"/>
            <a:ext cx="914400" cy="2103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46.0%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3680460"/>
            <a:ext cx="914400" cy="10561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23.1%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6600" y="4736592"/>
            <a:ext cx="914400" cy="9098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19.9%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6600" y="564642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3.8%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6600" y="5820156"/>
            <a:ext cx="914400" cy="1371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800" y="1257300"/>
            <a:ext cx="9144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22222"/>
                </a:solidFill>
                <a:latin typeface="Arial"/>
              </a:rPr>
              <a:t>3.8%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800" y="1431036"/>
            <a:ext cx="914400" cy="17556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3186684"/>
            <a:ext cx="914400" cy="13853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30.3%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800" y="4572000"/>
            <a:ext cx="914400" cy="10424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22.8%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6800" y="5614416"/>
            <a:ext cx="914400" cy="1920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800" y="5806440"/>
            <a:ext cx="914400" cy="228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1257300"/>
            <a:ext cx="91440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5.6%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0" y="1513332"/>
            <a:ext cx="914400" cy="19522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42.7%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0" y="3465576"/>
            <a:ext cx="914400" cy="11978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26.2%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7000" y="4663440"/>
            <a:ext cx="914400" cy="9692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21.2%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0" y="5632704"/>
            <a:ext cx="914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4.0%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77000" y="5815584"/>
            <a:ext cx="91440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1910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191000" y="1431036"/>
            <a:ext cx="685800" cy="1463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191000" y="3186684"/>
            <a:ext cx="685800" cy="49377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91000" y="4572000"/>
            <a:ext cx="685800" cy="1645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191000" y="5614416"/>
            <a:ext cx="685800" cy="320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91000" y="5806440"/>
            <a:ext cx="685800" cy="1371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1910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791200" y="1257300"/>
            <a:ext cx="6858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791200" y="1431036"/>
            <a:ext cx="685800" cy="8229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791200" y="3186684"/>
            <a:ext cx="685800" cy="2788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791200" y="4572000"/>
            <a:ext cx="685800" cy="9144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91200" y="5614416"/>
            <a:ext cx="685800" cy="18288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791200" y="5806440"/>
            <a:ext cx="685800" cy="914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791200" y="5829300"/>
            <a:ext cx="6858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111240" y="1234440"/>
            <a:ext cx="12192" cy="4724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23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500" y="5894832"/>
            <a:ext cx="1143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6500" y="5894832"/>
            <a:ext cx="1295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4100" y="6062472"/>
            <a:ext cx="16002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66666"/>
                </a:solidFill>
                <a:latin typeface="Arial"/>
              </a:rPr>
              <a:t>(normalised)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124206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% of value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6000" y="137922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of production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96200" y="1447800"/>
            <a:ext cx="4114800" cy="2286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8600" y="1524000"/>
            <a:ext cx="16764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Category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63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25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8710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2-yr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848600" y="1752600"/>
            <a:ext cx="38862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48600" y="18592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4BD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EBITDA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63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7.0%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25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8710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48600" y="213360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2A1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Materials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63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46.0%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25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38.4%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8710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42.7%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48600" y="240792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9531E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Personnel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3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23.1%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25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30.3%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8710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26.2%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48600" y="268224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C7DA6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63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19.9%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25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22.8%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8710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21.2%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48600" y="295656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C5A2B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Lease &amp; rentals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63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25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8710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4.0%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48600" y="3230880"/>
            <a:ext cx="17526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BFBFBF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Other op. costs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63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25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0.5%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08710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A5F"/>
                </a:solidFill>
                <a:latin typeface="Arial"/>
              </a:rPr>
              <a:t>0.4%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96200" y="3848100"/>
            <a:ext cx="4114800" cy="1143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63840" y="3924300"/>
            <a:ext cx="377952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Normalising the cycle: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averaging 2023+2024 nets out the WIP swing, giving a run-rate EBITDA of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~5.6% of value of production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(~5.5% of revenue) — a fairer valuation base than either single year.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Single years are distorted by project timing: 7.0% (2023, WIP build-up) vs 3.8% (2024, WIP unwind).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6553200"/>
            <a:ext cx="10134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2-yr = annual average of 2023+2024 (value of production €46.3m), neutralising the project-cycle WIP swing. % of value of production; may not sum to 100 due to rounding. Source: Coface reclassified P&amp;L.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7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