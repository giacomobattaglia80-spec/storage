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50.4</c:v>
                </c:pt>
                <c:pt idx="1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44.2</c:v>
                </c:pt>
                <c:pt idx="1">
                  <c:v>1.5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2-yr (sum)</c:v>
                </c:pt>
              </c:strCache>
            </c:strRef>
          </c:tx>
          <c:spPr>
            <a:solidFill>
              <a:srgbClr val="F2C200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94.6</c:v>
                </c:pt>
                <c:pt idx="1">
                  <c:v>5.2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· 2024 · 2-yr aggregate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C8102E"/>
                </a:solidFill>
                <a:latin typeface="Arial"/>
              </a:rPr>
              <a:t>EBITDA margin: 7.2% → 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P&amp;L recap — cost structure (2023 · 2024 · normalised)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Summing both years nets out the project-cycle WIP swing → a normalised run-rate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6600" y="1257300"/>
            <a:ext cx="914400" cy="320040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76600" y="1257300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7.0%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577340"/>
            <a:ext cx="914400" cy="2103120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1577340"/>
            <a:ext cx="914400" cy="2103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46.0%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3680460"/>
            <a:ext cx="914400" cy="1056132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6600" y="3680460"/>
            <a:ext cx="914400" cy="10561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23.1%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6600" y="4736592"/>
            <a:ext cx="914400" cy="909828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6600" y="4736592"/>
            <a:ext cx="914400" cy="9098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19.9%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6600" y="5646420"/>
            <a:ext cx="914400" cy="173736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76600" y="5646420"/>
            <a:ext cx="914400" cy="1737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3.8%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6600" y="5820156"/>
            <a:ext cx="914400" cy="1371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76800" y="1257300"/>
            <a:ext cx="914400" cy="173736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800" y="1257300"/>
            <a:ext cx="914400" cy="1737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222222"/>
                </a:solidFill>
                <a:latin typeface="Arial"/>
              </a:rPr>
              <a:t>3.8%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800" y="1431036"/>
            <a:ext cx="914400" cy="1755648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800" y="1431036"/>
            <a:ext cx="914400" cy="17556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38.4%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800" y="3186684"/>
            <a:ext cx="914400" cy="1385316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3186684"/>
            <a:ext cx="914400" cy="13853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30.3%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800" y="4572000"/>
            <a:ext cx="914400" cy="1042416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800" y="4572000"/>
            <a:ext cx="914400" cy="10424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22.8%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800" y="5614416"/>
            <a:ext cx="914400" cy="192024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6800" y="5614416"/>
            <a:ext cx="914400" cy="1920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4.2%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6800" y="5806440"/>
            <a:ext cx="914400" cy="2286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0" y="1257300"/>
            <a:ext cx="914400" cy="256032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1257300"/>
            <a:ext cx="914400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5.6%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7000" y="1513332"/>
            <a:ext cx="914400" cy="1952244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1513332"/>
            <a:ext cx="914400" cy="19522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42.7%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7000" y="3465576"/>
            <a:ext cx="914400" cy="1197864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7000" y="3465576"/>
            <a:ext cx="914400" cy="11978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26.2%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77000" y="4663440"/>
            <a:ext cx="914400" cy="969264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7000" y="4663440"/>
            <a:ext cx="914400" cy="9692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21.2%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77000" y="5632704"/>
            <a:ext cx="914400" cy="18288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0" y="5632704"/>
            <a:ext cx="914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4.0%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77000" y="5815584"/>
            <a:ext cx="914400" cy="1828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191000" y="1257300"/>
            <a:ext cx="685800" cy="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191000" y="1431036"/>
            <a:ext cx="685800" cy="14630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191000" y="3186684"/>
            <a:ext cx="685800" cy="49377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91000" y="4572000"/>
            <a:ext cx="685800" cy="16459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191000" y="5614416"/>
            <a:ext cx="685800" cy="3200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91000" y="5806440"/>
            <a:ext cx="685800" cy="1371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191000" y="5829300"/>
            <a:ext cx="685800" cy="457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791200" y="1257300"/>
            <a:ext cx="685800" cy="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791200" y="1431036"/>
            <a:ext cx="685800" cy="8229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791200" y="3186684"/>
            <a:ext cx="685800" cy="27889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791200" y="4572000"/>
            <a:ext cx="685800" cy="9144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791200" y="5614416"/>
            <a:ext cx="685800" cy="18288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791200" y="5806440"/>
            <a:ext cx="685800" cy="914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791200" y="5829300"/>
            <a:ext cx="685800" cy="457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6111240" y="1234440"/>
            <a:ext cx="12192" cy="4724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62300" y="5894832"/>
            <a:ext cx="1143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5894832"/>
            <a:ext cx="1143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2024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86500" y="5894832"/>
            <a:ext cx="1295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2-yr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4100" y="6062472"/>
            <a:ext cx="16002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66666"/>
                </a:solidFill>
                <a:latin typeface="Arial"/>
              </a:rPr>
              <a:t>(normalised)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1242060"/>
            <a:ext cx="914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% of value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86000" y="1379220"/>
            <a:ext cx="914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of production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96200" y="1447800"/>
            <a:ext cx="4114800" cy="2286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8600" y="1524000"/>
            <a:ext cx="16764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Category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63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2023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25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2024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87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2-yr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848600" y="1752600"/>
            <a:ext cx="38862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48600" y="185928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4BD00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EBITDA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63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7.0%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25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87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5.6%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48600" y="213360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2A100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Materials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63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46.0%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25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38.4%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87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42.7%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48600" y="240792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9531E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Personnel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63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23.1%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25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30.3%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87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26.2%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48600" y="268224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C7DA6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Services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63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19.9%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25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22.8%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87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21.2%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48600" y="295656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C5A2B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Lease &amp; rentals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63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3.8%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25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4.2%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87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4.0%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48600" y="323088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BFBFBF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Other op. costs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63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0.3%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25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0.5%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087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0.4%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696200" y="3848100"/>
            <a:ext cx="4114800" cy="1143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63840" y="3924300"/>
            <a:ext cx="37795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Normalising the cycle: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aggregating 2023+2024 nets out the WIP swing, giving a run-rate EBITDA of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~5.6% of value of production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(~5.5% of revenue) — a fairer valuation base than either single year.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/>
              </a:rPr>
              <a:t>Single years are distorted by project timing: 7.0% (2023, WIP build-up) vs 3.8% (2024, WIP unwind).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1000" y="6553200"/>
            <a:ext cx="10134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2-yr = 2023+2024 aggregated (value of production €92.7m), neutralising the project-cycle WIP swing. % of value of production; may not sum to 100 due to rounding. Source: Coface reclassified P&amp;L.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Who buys from Hennecke — B2B customer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Customers are industrial manufacturers that process polyurethane · by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Building insulation — sandwich panels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Continuous &amp; discontinuous panel makers (roofing, façades, cold rooms).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Kingspan, Isopan / Manni, Metecno, Brucha, Trimo, Tata Steel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6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85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Refrigeration &amp; cold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5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Fridge / freezer &amp; cold-room manufacturers (PU injection insulation).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Whirlpool, Electrolux, BSH, Liebherr, Haier, Arçelik; Epta, Arneg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1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Flexible foam (slabstock)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41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Foam producers supplying bedding &amp; upholstered furniture.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Recticel, The Vita Group, Eurofoam, Carpenter, Orsa Foam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78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78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 · Automotive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Tier-1 makers of seating, interiors, NVH, RIM &amp;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Adient, Lear, Forvia, Magna, Grupo Antolin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 · Footwear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PU sole producers &amp; footwear makers (direct injection); strong Italian districts.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Sole manufacturers &amp; footwear brands' suppliers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766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85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 · Elastomers &amp; composites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5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Technical PU parts: rollers, coatings, RIM and composite components.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Industrial manufacturers of technical PU parts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 · Pipe insulation &amp; water heaters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41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District-heating pre-insulated pipes; boiler / water-heater makers.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Logstor (Kingspan), Brugg, Isoplus; Ariston, A.O. Smith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678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78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8 · PU system houses (partners)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Chemical groups integrating process technology with raw-material systems.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Covestro, BASF, Dow, Huntsman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Read-across: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capex-driven, cyclical buyers → the installed base drives recurring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(spares, retrofit, service). Reach is Italy/Europe-centric, global via the Hennecke network (US, Asia).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Illustrative customer profiles by application — not a confirmed client list (customer breakdown not disclosed in the analysed documents). Company names are sector examples.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Competitor map — PU machinery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Qualitative positioning of the main players in the reference sector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5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03960"/>
            <a:ext cx="6705600" cy="4038600"/>
          </a:xfrm>
          <a:prstGeom prst="rect">
            <a:avLst/>
          </a:prstGeom>
          <a:solidFill>
            <a:srgbClr val="FBFCFD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238500"/>
            <a:ext cx="6248400" cy="10668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7200" y="1447800"/>
            <a:ext cx="10668" cy="3581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25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▲ Global scale &amp; installed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6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▼ Regional / niche 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6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◄ Specialised PU pure-play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60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Diversified machinery group ►</a:t>
            </a:r>
          </a:p>
        </p:txBody>
      </p:sp>
      <p:sp>
        <p:nvSpPr>
          <p:cNvPr id="15" name="Oval 14"/>
          <p:cNvSpPr/>
          <p:nvPr/>
        </p:nvSpPr>
        <p:spPr>
          <a:xfrm>
            <a:off x="2999232" y="1743456"/>
            <a:ext cx="411480" cy="41148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9172" y="216255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 Group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3A5F"/>
                </a:solidFill>
                <a:latin typeface="Arial"/>
              </a:rPr>
              <a:t>PU world leader (incl. OMS)</a:t>
            </a:r>
          </a:p>
        </p:txBody>
      </p:sp>
      <p:sp>
        <p:nvSpPr>
          <p:cNvPr id="17" name="Oval 16"/>
          <p:cNvSpPr/>
          <p:nvPr/>
        </p:nvSpPr>
        <p:spPr>
          <a:xfrm>
            <a:off x="2287524" y="2497836"/>
            <a:ext cx="335280" cy="335280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9364" y="28407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Hennecke-OMS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8102E"/>
                </a:solidFill>
                <a:latin typeface="Arial"/>
              </a:rPr>
              <a:t>TARGET</a:t>
            </a:r>
          </a:p>
        </p:txBody>
      </p:sp>
      <p:sp>
        <p:nvSpPr>
          <p:cNvPr id="19" name="Oval 18"/>
          <p:cNvSpPr/>
          <p:nvPr/>
        </p:nvSpPr>
        <p:spPr>
          <a:xfrm>
            <a:off x="2942844" y="3101340"/>
            <a:ext cx="274320" cy="2743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94204" y="3383280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Cannon / Afros</a:t>
            </a:r>
          </a:p>
        </p:txBody>
      </p:sp>
      <p:sp>
        <p:nvSpPr>
          <p:cNvPr id="21" name="Oval 20"/>
          <p:cNvSpPr/>
          <p:nvPr/>
        </p:nvSpPr>
        <p:spPr>
          <a:xfrm>
            <a:off x="6216396" y="1917192"/>
            <a:ext cx="350520" cy="3505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227533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KraussMaffei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99999"/>
                </a:solidFill>
                <a:latin typeface="Arial"/>
              </a:rPr>
              <a:t>RPM unit · ChemChina</a:t>
            </a:r>
          </a:p>
        </p:txBody>
      </p:sp>
      <p:sp>
        <p:nvSpPr>
          <p:cNvPr id="23" name="Oval 22"/>
          <p:cNvSpPr/>
          <p:nvPr/>
        </p:nvSpPr>
        <p:spPr>
          <a:xfrm>
            <a:off x="5644896" y="2973324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1016" y="3224784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Kurtz Ersa</a:t>
            </a:r>
          </a:p>
        </p:txBody>
      </p:sp>
      <p:sp>
        <p:nvSpPr>
          <p:cNvPr id="25" name="Oval 24"/>
          <p:cNvSpPr/>
          <p:nvPr/>
        </p:nvSpPr>
        <p:spPr>
          <a:xfrm>
            <a:off x="4770120" y="3403092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365455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Frimo</a:t>
            </a:r>
          </a:p>
        </p:txBody>
      </p:sp>
      <p:sp>
        <p:nvSpPr>
          <p:cNvPr id="27" name="Oval 26"/>
          <p:cNvSpPr/>
          <p:nvPr/>
        </p:nvSpPr>
        <p:spPr>
          <a:xfrm>
            <a:off x="2286000" y="3991356"/>
            <a:ext cx="213360" cy="21336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06880" y="42123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Saip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1203960"/>
            <a:ext cx="4038600" cy="403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1295400"/>
            <a:ext cx="36576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Key players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1524000"/>
            <a:ext cx="36728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1615440"/>
            <a:ext cx="3688080" cy="3505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1F3A5F"/>
                </a:solidFill>
                <a:latin typeface="Arial"/>
              </a:rPr>
              <a:t>Hennecke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(DE/IT) — world leader in PU process tech; includes the target Hennecke-OMS.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Cannon / Afros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(Peschiera Borromeo, IT) — PU metering, foam &amp; composites; main Italian rival.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KraussMaffei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(Munich, DE) — Reaction Process Machinery unit; diversified, ChemChina-owned.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Frimo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(Lotte, DE) — PU tooling &amp; systems, automotive-focused.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Kurtz Ersa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(Kreuzwertheim, DE) — EPS/PU foaming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Saip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(Offanengo, IT) — PU plants / refrigeration insulation.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5334000"/>
            <a:ext cx="7620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3A5F"/>
                </a:solidFill>
                <a:latin typeface="Arial"/>
              </a:rPr>
              <a:t>Net read: the target sits among specialised PU pure-plays with global, group-backed reach — differentiated in sandwich-panel &amp; flexible-foam lines.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Qualitative positioning — illustrative, not to scale; consolidated competitor revenues not disclosed in the analysed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Tailwinds vs headwinds — what drives this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Two silos: structural supports vs structural pressures, specific to a PU capital-goods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6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6388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TAILWINDS  ·  structural supports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Building energy-efficiency regulation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(EU EPBD, Green Deal, renovations) → demand for insulating sandwich panels &amp; rigid foam.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Cold-chain &amp; refrigeration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expansion (food, pharma) → PU-injection lines; Hennecke already equips much of global fridge output.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Blowing-agent transition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(HFC → HFO/pentane) forces a customer machine-fleet renewal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e-mobility &amp; lightweighting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automotive PU seating, NVH and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Large global installed base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recurring, high-margin aftermarket (spares, retrofit, service).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Brückner Group backing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R&amp;D, cross-selling, global reach and financial strength.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Historic OMS know-how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in continuous sandwich-panel &amp; flexible-foam lines (differentiation).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952500"/>
            <a:ext cx="56388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98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HEADWINDS  ·  structural pressures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Capex-driven cyclicality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lumpy, volatile order intake tied to customers' investment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Long project cycles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work-in-progress swings distort reported earnings (the 2024 margin effect).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&amp; execution risk on complex turnkey orders.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limited autonomy, intercompany dependence, carve-out complexity.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Input-cost volatility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(steel, energy, components) and supply-chain tensions.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FX &amp; country risk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export projects; qualified competition (Cannon/Afros, KraussMaffei) → price pressure.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Order concentration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single large projects; warranty / performance-bond exposure.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Net read: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structurally-supported demand on a cyclical, execution-heavy model. The thesis hinges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smoothing the cycle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(backlog &amp; pricing discipline) and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scaling the recurring 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lift and stabilise margins.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Drivers synthesised from the dossier (sections 3, 5, 9, 11) and public industry sources.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7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