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9FB2C8"/>
            </a:solidFill>
          </c:spPr>
          <c:cat>
            <c:strRef>
              <c:f>Sheet1!$A$2:$A$4</c:f>
              <c:strCache>
                <c:ptCount val="3"/>
                <c:pt idx="0">
                  <c:v>Revenue</c:v>
                </c:pt>
                <c:pt idx="1">
                  <c:v>Value of prod.</c:v>
                </c:pt>
                <c:pt idx="2">
                  <c:v>EBITDA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50.4</c:v>
                </c:pt>
                <c:pt idx="1">
                  <c:v>52.0</c:v>
                </c:pt>
                <c:pt idx="2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Sheet1!$A$2:$A$4</c:f>
              <c:strCache>
                <c:ptCount val="3"/>
                <c:pt idx="0">
                  <c:v>Revenue</c:v>
                </c:pt>
                <c:pt idx="1">
                  <c:v>Value of prod.</c:v>
                </c:pt>
                <c:pt idx="2">
                  <c:v>EBITDA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44.2</c:v>
                </c:pt>
                <c:pt idx="1">
                  <c:v>40.7</c:v>
                </c:pt>
                <c:pt idx="2">
                  <c:v>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876800"/>
            <a:ext cx="12192000" cy="1981200"/>
          </a:xfrm>
          <a:prstGeom prst="rect">
            <a:avLst/>
          </a:prstGeom>
          <a:solidFill>
            <a:srgbClr val="1A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2600"/>
            <a:ext cx="6858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PRIVATE EQUITY · PROJECT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920" y="2286000"/>
            <a:ext cx="9906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 i="0">
                <a:solidFill>
                  <a:srgbClr val="FFFFFF"/>
                </a:solidFill>
                <a:latin typeface="Arial"/>
              </a:rPr>
              <a:t>HENNECKE-OMS S.p.A.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62300"/>
            <a:ext cx="9144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F2C200"/>
                </a:solidFill>
                <a:latin typeface="Arial"/>
              </a:rPr>
              <a:t>Investment opportunity assessment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929640" y="3810000"/>
            <a:ext cx="592836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00500"/>
            <a:ext cx="91440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Italian polyurethane-machinery hub of the Hennecke Group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(part of Brückner Group SE) — carve-out / platform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95900"/>
            <a:ext cx="53340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Presentation to the Board of Directors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FB2C8"/>
                </a:solidFill>
                <a:latin typeface="Arial"/>
              </a:rPr>
              <a:t>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0" y="5295900"/>
            <a:ext cx="36576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Based on FY2023–2024 filed financials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Sources: Coface · Chamber of Commerce · public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4840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339840"/>
            <a:ext cx="103632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HENNECKE-OMS S.p.A. — Investment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Italian PU-machinery hub of the Hennecke Group · potential carve-out / platform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54864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52578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Company at a glance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32560"/>
            <a:ext cx="512064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Italian production hub of the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Hennecke Group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a world leader in polyurethane (PU) processing machinery.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HQ &amp; plant in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Verano Brianza (MB), Italy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roots in the historic OMS engineering district (since 1986).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100% owned by Hennecke GmbH (DE)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captive subsidiary, subject to direction &amp; coordination.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Turnkey lines for flexible &amp; rigid PU foam: slabstock, sandwich panels, refrigeration, automotive, footwear.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~166 employees (2024);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ISO 9001 &amp; 14001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certified.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Global installed base — recurring aftermarket potential.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457700"/>
            <a:ext cx="5120640" cy="15240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4785360" cy="1333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Group context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parent Hennecke Group was acquired by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Brückner Group SE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(closing 5 Jan 2026), from a fund advised by Capvis.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Hennecke = ~680 employees, ~15 companies, two brands (Hennecke Polyurethane Technology &amp; Hennecke-OMS).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99999"/>
                </a:solidFill>
                <a:latin typeface="Arial"/>
              </a:rPr>
              <a:t>Upstream ownership inferred from public sources.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97536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F3A5F"/>
                </a:solidFill>
                <a:latin typeface="Arial"/>
              </a:rPr>
              <a:t>Key figures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84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Revenue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€ 44.2M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-12% YoY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78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202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EBITDA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€ 1.5M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3.5% margin (vs 7.2% in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84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Liquidity vs bank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€ 10.4M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E7D4F"/>
                </a:solidFill>
                <a:latin typeface="Arial"/>
              </a:rPr>
              <a:t>cash · vs € 6.9M M/L bank debt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678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02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Shareholders' equity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€ 6.0M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99999"/>
                </a:solidFill>
                <a:latin typeface="Arial"/>
              </a:rPr>
              <a:t>thin — 15.5% of total assets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8880" y="3688080"/>
            <a:ext cx="53340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Deal angle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80" y="4008120"/>
            <a:ext cx="534924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80" y="4152900"/>
            <a:ext cx="5349240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Carve-out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of the Italian entity, or acquisition of the entire Hennecke Group as a platform.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Light balance sheet: low debt, high liquidity, working capital self-financed by customer advances (€10.9M).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Shares currently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pledged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— to be released on sale.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Coface credit score 5/10 (medium-high risk).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Financial profile 2023–2024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Cyclical &amp; project-based business · thin margins · self-financed working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80" y="1066800"/>
            <a:ext cx="3810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2023 vs 2024 (€ million)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33400" y="1371600"/>
          <a:ext cx="5181600" cy="3581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563880" y="5105400"/>
            <a:ext cx="5074920" cy="99060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6280" y="5196840"/>
            <a:ext cx="477012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C8102E"/>
                </a:solidFill>
                <a:latin typeface="Arial"/>
              </a:rPr>
              <a:t>EBITDA margin: 7.2% → 3.5%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Drop driven by the WIP swing: change in work-in-progress went from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+€19.3M (2023)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to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-€0.5M (2024)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— a timing effect of long projects, not structural deterioration.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0" y="952500"/>
            <a:ext cx="5715000" cy="243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8880" y="105156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Balance-sheet highlights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8880" y="1310640"/>
            <a:ext cx="534924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880" y="1409700"/>
            <a:ext cx="5349240" cy="1905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€ 10.4M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cash  ·  vs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€ 6.9M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M/L bank debt (new 2024)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customer advances fund the working capital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€ 6.0M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equity — thin (15.5% of total assets)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intangibles (goodwill) — impairment watch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€ 29.5M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total debt — largely operating &amp; intercompany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Working capital improving: inventory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DIO 119 → 66 days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367284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What the numbers say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880" y="3931920"/>
            <a:ext cx="5349240" cy="7620"/>
          </a:xfrm>
          <a:prstGeom prst="rect">
            <a:avLst/>
          </a:prstGeom>
          <a:solidFill>
            <a:srgbClr val="CDD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880" y="4023360"/>
            <a:ext cx="5349240" cy="2209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Revenue -12%, value of production -22%: the gap is entirely the WIP timing effect (long-cycle projects).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Margin compressed by lower fixed-cost absorption (personnel stable in value, higher in incidence).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Net loss of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€ 0.24M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in 2024 (vs +€0.29M in 2023).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(cycle + intercompany adjusted) is the right basis for valuation, not the 2024 point figure.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000" y="6598920"/>
            <a:ext cx="6858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Source: Coface Full Report (filed FY2023–2024). Amounts in € million.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P&amp;L recap — cost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Revenue split into EBITDA and cost categories (cost bar)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1143000" cy="457200"/>
          </a:xfrm>
          <a:prstGeom prst="rect">
            <a:avLst/>
          </a:prstGeom>
          <a:solidFill>
            <a:srgbClr val="84B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11430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280160"/>
            <a:ext cx="19050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EBITDA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9100" y="1508760"/>
            <a:ext cx="342900" cy="7620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37360"/>
            <a:ext cx="1143000" cy="2331720"/>
          </a:xfrm>
          <a:prstGeom prst="rect">
            <a:avLst/>
          </a:prstGeom>
          <a:solidFill>
            <a:srgbClr val="F2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37360"/>
            <a:ext cx="1143000" cy="23317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51%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1737360"/>
            <a:ext cx="1905000" cy="23317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Materials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29100" y="2903220"/>
            <a:ext cx="342900" cy="7620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4069080"/>
            <a:ext cx="1143000" cy="822960"/>
          </a:xfrm>
          <a:prstGeom prst="rect">
            <a:avLst/>
          </a:prstGeom>
          <a:solidFill>
            <a:srgbClr val="D95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4069080"/>
            <a:ext cx="114300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069080"/>
            <a:ext cx="190500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Personnel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29100" y="4480560"/>
            <a:ext cx="342900" cy="7620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4892040"/>
            <a:ext cx="1143000" cy="274320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892040"/>
            <a:ext cx="1143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892040"/>
            <a:ext cx="1905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Transport &amp; utilities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29100" y="5029200"/>
            <a:ext cx="342900" cy="7620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5166360"/>
            <a:ext cx="1143000" cy="13716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5166360"/>
            <a:ext cx="1143000" cy="1371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22222"/>
                </a:solidFill>
                <a:latin typeface="Arial"/>
              </a:rPr>
              <a:t>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5166360"/>
            <a:ext cx="1905000" cy="1371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Arial"/>
              </a:rPr>
              <a:t>Maintenance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9100" y="5234940"/>
            <a:ext cx="342900" cy="7620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0" y="5303520"/>
            <a:ext cx="1143000" cy="502920"/>
          </a:xfrm>
          <a:prstGeom prst="rect">
            <a:avLst/>
          </a:prstGeom>
          <a:solidFill>
            <a:srgbClr val="24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5303520"/>
            <a:ext cx="1143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5303520"/>
            <a:ext cx="1905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Overheads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29100" y="5554980"/>
            <a:ext cx="342900" cy="7620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67200" y="5867400"/>
            <a:ext cx="17526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66666"/>
                </a:solidFill>
                <a:latin typeface="Arial"/>
              </a:rPr>
              <a:t>Cost bar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39000" y="1219200"/>
            <a:ext cx="4572000" cy="4572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39000" y="1219200"/>
            <a:ext cx="45720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1219200"/>
            <a:ext cx="43434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Cost structure — recap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21880" y="1752600"/>
            <a:ext cx="4206240" cy="3505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84BD00"/>
                </a:solidFill>
                <a:latin typeface="Arial"/>
              </a:rPr>
              <a:t>■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EBITDA</a:t>
            </a:r>
            <a:r>
              <a:rPr sz="1500" b="0" i="0">
                <a:solidFill>
                  <a:srgbClr val="666666"/>
                </a:solidFill>
                <a:latin typeface="Arial"/>
              </a:rPr>
              <a:t>      10%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F2A100"/>
                </a:solidFill>
                <a:latin typeface="Arial"/>
              </a:rPr>
              <a:t>■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Materials</a:t>
            </a:r>
            <a:r>
              <a:rPr sz="1500" b="0" i="0">
                <a:solidFill>
                  <a:srgbClr val="666666"/>
                </a:solidFill>
                <a:latin typeface="Arial"/>
              </a:rPr>
              <a:t>      51%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D9531E"/>
                </a:solidFill>
                <a:latin typeface="Arial"/>
              </a:rPr>
              <a:t>■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Personnel</a:t>
            </a:r>
            <a:r>
              <a:rPr sz="1500" b="0" i="0">
                <a:solidFill>
                  <a:srgbClr val="666666"/>
                </a:solidFill>
                <a:latin typeface="Arial"/>
              </a:rPr>
              <a:t>      18%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8C5A2B"/>
                </a:solidFill>
                <a:latin typeface="Arial"/>
              </a:rPr>
              <a:t>■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Transport &amp; utilities</a:t>
            </a:r>
            <a:r>
              <a:rPr sz="1500" b="0" i="0">
                <a:solidFill>
                  <a:srgbClr val="666666"/>
                </a:solidFill>
                <a:latin typeface="Arial"/>
              </a:rPr>
              <a:t>      6%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BFBFBF"/>
                </a:solidFill>
                <a:latin typeface="Arial"/>
              </a:rPr>
              <a:t>■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Maintenance</a:t>
            </a:r>
            <a:r>
              <a:rPr sz="1500" b="0" i="0">
                <a:solidFill>
                  <a:srgbClr val="666666"/>
                </a:solidFill>
                <a:latin typeface="Arial"/>
              </a:rPr>
              <a:t>      3%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243746"/>
                </a:solidFill>
                <a:latin typeface="Arial"/>
              </a:rPr>
              <a:t>■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Overheads</a:t>
            </a:r>
            <a:r>
              <a:rPr sz="1500" b="0" i="0">
                <a:solidFill>
                  <a:srgbClr val="666666"/>
                </a:solidFill>
                <a:latin typeface="Arial"/>
              </a:rPr>
              <a:t>      11%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7D4F"/>
                </a:solidFill>
                <a:latin typeface="Arial"/>
              </a:rPr>
              <a:t>EBITDA margin 10%</a:t>
            </a:r>
            <a:r>
              <a:rPr sz="1400" b="0" i="0">
                <a:solidFill>
                  <a:srgbClr val="333333"/>
                </a:solidFill>
                <a:latin typeface="Arial"/>
              </a:rPr>
              <a:t>; materials are the dominant cost at 51% — the key lever on profitability.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% of revenue / value of production, per the provided breakdown (sums to ~100% net of rounding).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Who buys from Hennecke — B2B customer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Customers are industrial manufacturers that process polyurethane · by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4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 · Building insulation — sandwich panels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Continuous &amp; discontinuous panel makers (roofing, façades, cold rooms).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Kingspan, Isopan / Manni, Metecno, Brucha, Trimo, Tata Steel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66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85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 · Refrigeration &amp; cold 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85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Fridge / freezer &amp; cold-room manufacturers (PU injection insulation).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Whirlpool, Electrolux, BSH, Liebherr, Haier, Arçelik; Epta, Arneg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41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 · Flexible foam (slabstock)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41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Foam producers supplying bedding &amp; upholstered furniture.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Recticel, The Vita Group, Eurofoam, Carpenter, Orsa Foam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7800" y="128016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67800" y="128016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128016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 · Automotive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167640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Tier-1 makers of seating, interiors, NVH, RIM &amp; composite parts.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Adient, Lear, Forvia, Magna, Grupo Antolin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10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10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5 · Footwear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PU sole producers &amp; footwear makers (direct injection); strong Italian districts.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Sole manufacturers &amp; footwear brands' suppliers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766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766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985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6 · Elastomers &amp; composites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985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Technical PU parts: rollers, coatings, RIM and composite components.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Industrial manufacturers of technical PU parts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41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7 · Pipe insulation &amp; water heaters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41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District-heating pre-insulated pipes; boiler / water-heater makers.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Logstor (Kingspan), Brugg, Isoplus; Ariston, A.O. Smith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67800" y="344424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67800" y="3444240"/>
            <a:ext cx="2743200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3444240"/>
            <a:ext cx="2575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8 · PU system houses (partners)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3840480"/>
            <a:ext cx="2514600" cy="1447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6666"/>
                </a:solidFill>
                <a:latin typeface="Arial"/>
              </a:rPr>
              <a:t>Chemical groups integrating process technology with raw-material systems.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e.g. </a:t>
            </a:r>
            <a:r>
              <a:rPr sz="1150" b="0" i="0">
                <a:solidFill>
                  <a:srgbClr val="222222"/>
                </a:solidFill>
                <a:latin typeface="Arial"/>
              </a:rPr>
              <a:t>Covestro, BASF, Dow, Huntsman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1000" y="5471160"/>
            <a:ext cx="11430000" cy="73152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3880" y="5547360"/>
            <a:ext cx="11064240" cy="609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Read-across: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capex-driven, cyclical buyers → the installed base drives recurring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aftermarket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(spares, retrofit, service). Reach is Italy/Europe-centric, global via the Hennecke network (US, Asia).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Illustrative customer profiles by application — not a confirmed client list (customer breakdown not disclosed in the analysed documents). Company names are sector examples.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Competitor map — PU machinery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Qualitative positioning of the main players in the reference sector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5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203960"/>
            <a:ext cx="6705600" cy="4038600"/>
          </a:xfrm>
          <a:prstGeom prst="rect">
            <a:avLst/>
          </a:prstGeom>
          <a:solidFill>
            <a:srgbClr val="FBFCFD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238500"/>
            <a:ext cx="6248400" cy="10668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67200" y="1447800"/>
            <a:ext cx="10668" cy="3581400"/>
          </a:xfrm>
          <a:prstGeom prst="rect">
            <a:avLst/>
          </a:prstGeom>
          <a:solidFill>
            <a:srgbClr val="C9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1257300"/>
            <a:ext cx="62484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66666"/>
                </a:solidFill>
                <a:latin typeface="Arial"/>
              </a:rPr>
              <a:t>▲ Global scale &amp; installed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67300"/>
            <a:ext cx="62484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66666"/>
                </a:solidFill>
                <a:latin typeface="Arial"/>
              </a:rPr>
              <a:t>▼ Regional / niche reach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360" y="3284220"/>
            <a:ext cx="1752600" cy="137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◄ Specialised PU pure-play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62600" y="3284220"/>
            <a:ext cx="1752600" cy="137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99999"/>
                </a:solidFill>
                <a:latin typeface="Arial"/>
              </a:rPr>
              <a:t>Diversified machinery group ►</a:t>
            </a:r>
          </a:p>
        </p:txBody>
      </p:sp>
      <p:sp>
        <p:nvSpPr>
          <p:cNvPr id="15" name="Oval 14"/>
          <p:cNvSpPr/>
          <p:nvPr/>
        </p:nvSpPr>
        <p:spPr>
          <a:xfrm>
            <a:off x="2999232" y="1743456"/>
            <a:ext cx="411480" cy="41148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9172" y="216255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Hennecke Group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1F3A5F"/>
                </a:solidFill>
                <a:latin typeface="Arial"/>
              </a:rPr>
              <a:t>PU world leader (incl. OMS)</a:t>
            </a:r>
          </a:p>
        </p:txBody>
      </p:sp>
      <p:sp>
        <p:nvSpPr>
          <p:cNvPr id="17" name="Oval 16"/>
          <p:cNvSpPr/>
          <p:nvPr/>
        </p:nvSpPr>
        <p:spPr>
          <a:xfrm>
            <a:off x="2287524" y="2497836"/>
            <a:ext cx="335280" cy="335280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69364" y="284073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Hennecke-OMS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C8102E"/>
                </a:solidFill>
                <a:latin typeface="Arial"/>
              </a:rPr>
              <a:t>TARGET</a:t>
            </a:r>
          </a:p>
        </p:txBody>
      </p:sp>
      <p:sp>
        <p:nvSpPr>
          <p:cNvPr id="19" name="Oval 18"/>
          <p:cNvSpPr/>
          <p:nvPr/>
        </p:nvSpPr>
        <p:spPr>
          <a:xfrm>
            <a:off x="2942844" y="3101340"/>
            <a:ext cx="274320" cy="27432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94204" y="3383280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Cannon / Afros</a:t>
            </a:r>
          </a:p>
        </p:txBody>
      </p:sp>
      <p:sp>
        <p:nvSpPr>
          <p:cNvPr id="21" name="Oval 20"/>
          <p:cNvSpPr/>
          <p:nvPr/>
        </p:nvSpPr>
        <p:spPr>
          <a:xfrm>
            <a:off x="6216396" y="1917192"/>
            <a:ext cx="350520" cy="35052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856" y="2275332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KraussMaffei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999999"/>
                </a:solidFill>
                <a:latin typeface="Arial"/>
              </a:rPr>
              <a:t>RPM unit · ChemChina</a:t>
            </a:r>
          </a:p>
        </p:txBody>
      </p:sp>
      <p:sp>
        <p:nvSpPr>
          <p:cNvPr id="23" name="Oval 22"/>
          <p:cNvSpPr/>
          <p:nvPr/>
        </p:nvSpPr>
        <p:spPr>
          <a:xfrm>
            <a:off x="5644896" y="2973324"/>
            <a:ext cx="243840" cy="24384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1016" y="3224784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Kurtz Ersa</a:t>
            </a:r>
          </a:p>
        </p:txBody>
      </p:sp>
      <p:sp>
        <p:nvSpPr>
          <p:cNvPr id="25" name="Oval 24"/>
          <p:cNvSpPr/>
          <p:nvPr/>
        </p:nvSpPr>
        <p:spPr>
          <a:xfrm>
            <a:off x="4770120" y="3403092"/>
            <a:ext cx="243840" cy="24384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0" y="3654552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Frimo</a:t>
            </a:r>
          </a:p>
        </p:txBody>
      </p:sp>
      <p:sp>
        <p:nvSpPr>
          <p:cNvPr id="27" name="Oval 26"/>
          <p:cNvSpPr/>
          <p:nvPr/>
        </p:nvSpPr>
        <p:spPr>
          <a:xfrm>
            <a:off x="2286000" y="3991356"/>
            <a:ext cx="213360" cy="213360"/>
          </a:xfrm>
          <a:prstGeom prst="ellipse">
            <a:avLst/>
          </a:prstGeom>
          <a:solidFill>
            <a:srgbClr val="5B7A9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06880" y="4212336"/>
            <a:ext cx="13716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222"/>
                </a:solidFill>
                <a:latin typeface="Arial"/>
              </a:rPr>
              <a:t>Saip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0" y="1203960"/>
            <a:ext cx="4038600" cy="403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0" y="1295400"/>
            <a:ext cx="365760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Key players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80" y="1524000"/>
            <a:ext cx="367284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0" y="1615440"/>
            <a:ext cx="3688080" cy="3505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1F3A5F"/>
                </a:solidFill>
                <a:latin typeface="Arial"/>
              </a:rPr>
              <a:t>Hennecke Group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(DE/IT) — world leader in PU process tech; includes the target Hennecke-OMS.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Cannon / Afros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(Peschiera Borromeo, IT) — PU metering, foam &amp; composites; main Italian rival.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KraussMaffei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(Munich, DE) — Reaction Process Machinery unit; diversified, ChemChina-owned.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Frimo Group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(Lotte, DE) — PU tooling &amp; systems, automotive-focused.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Kurtz Ersa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(Kreuzwertheim, DE) — EPS/PU foaming machinery.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0" i="0">
                <a:solidFill>
                  <a:srgbClr val="5B7A9E"/>
                </a:solidFill>
                <a:latin typeface="Arial"/>
              </a:rPr>
              <a:t>•  </a:t>
            </a:r>
            <a:r>
              <a:rPr sz="1300" b="1" i="0">
                <a:solidFill>
                  <a:srgbClr val="222222"/>
                </a:solidFill>
                <a:latin typeface="Arial"/>
              </a:rPr>
              <a:t>Saip </a:t>
            </a:r>
            <a:r>
              <a:rPr sz="1300" b="0" i="0">
                <a:solidFill>
                  <a:srgbClr val="222222"/>
                </a:solidFill>
                <a:latin typeface="Arial"/>
              </a:rPr>
              <a:t>(Offanengo, IT) — PU plants / refrigeration insulation.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5334000"/>
            <a:ext cx="7620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F3A5F"/>
                </a:solidFill>
                <a:latin typeface="Arial"/>
              </a:rPr>
              <a:t>Net read: the target sits among specialised PU pure-plays with global, group-backed reach — differentiated in sandwich-panel &amp; flexible-foam lines.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Qualitative positioning — illustrative, not to scale; consolidated competitor revenues not disclosed in the analysed documents.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Tailwinds vs headwinds — what drives this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Two silos: structural supports vs structural pressures, specific to a PU capital-goods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6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638800" cy="438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5638800" cy="3505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54102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TAILWINDS  ·  structural supports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32560"/>
            <a:ext cx="5273040" cy="3810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Building energy-efficiency regulation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(EU EPBD, Green Deal, renovations) → demand for insulating sandwich panels &amp; rigid foam.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Cold-chain &amp; refrigeration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expansion (food, pharma) → PU-injection lines; Hennecke already equips much of global fridge output.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Blowing-agent transition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(HFC → HFO/pentane) forces a customer machine-fleet renewal cycle.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e-mobility &amp; lightweighting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automotive PU seating, NVH and composite parts.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Large global installed base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recurring, high-margin aftermarket (spares, retrofit, service).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Brückner Group backing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R&amp;D, cross-selling, global reach and financial strength.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Historic OMS know-how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in continuous sandwich-panel &amp; flexible-foam lines (differentiation).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952500"/>
            <a:ext cx="5638800" cy="438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952500"/>
            <a:ext cx="5638800" cy="35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9840" y="952500"/>
            <a:ext cx="54102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HEADWINDS  ·  structural pressures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432560"/>
            <a:ext cx="5273040" cy="3810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Capex-driven cyclicality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lumpy, volatile order intake tied to customers' investment cycle.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Long project cycles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work-in-progress swings distort reported earnings (the 2024 margin effect).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Thin, volatile margins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&amp; execution risk on complex turnkey orders.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Captive nature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→ limited autonomy, intercompany dependence, carve-out complexity.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Input-cost volatility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(steel, energy, components) and supply-chain tensions.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FX &amp; country risk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on export projects; qualified competition (Cannon/Afros, KraussMaffei) → price pressure.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5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450" b="1" i="0">
                <a:solidFill>
                  <a:srgbClr val="222222"/>
                </a:solidFill>
                <a:latin typeface="Arial"/>
              </a:rPr>
              <a:t>Order concentration</a:t>
            </a:r>
            <a:r>
              <a:rPr sz="1450" b="0" i="0">
                <a:solidFill>
                  <a:srgbClr val="222222"/>
                </a:solidFill>
                <a:latin typeface="Arial"/>
              </a:rPr>
              <a:t> on single large projects; warranty / performance-bond exposure.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1000" y="5471160"/>
            <a:ext cx="11430000" cy="73152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3880" y="5547360"/>
            <a:ext cx="11064240" cy="609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F3A5F"/>
                </a:solidFill>
                <a:latin typeface="Arial"/>
              </a:rPr>
              <a:t>Net read: 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structurally-supported demand on a cyclical, execution-heavy model. The thesis hinges on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smoothing the cycle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(backlog &amp; pricing discipline) and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scaling the recurring aftermarket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to lift and stabilise margins.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000" y="6598920"/>
            <a:ext cx="9906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Drivers synthesised from the dossier (sections 3, 5, 9, 11) and public industry sources.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Investment thesis — value, risks &amp;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Margin-recovery &amp; aftermarket story on a structurally-supported PU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7 / 7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3657600" cy="3505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Value-creation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Margin recovery 3.5% → 6-8%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via fixed-cost efficiency.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Grow the recurring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aftermarket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(service, spares, retrofit).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Working-capital optimisation (already underway: DIO 119→66).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Backlog normalisation &amp; pricing discipline on projects.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Optional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buy-and-build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 PU / adjacent capital-goods machinery.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076700"/>
            <a:ext cx="3291840" cy="975360"/>
          </a:xfrm>
          <a:prstGeom prst="rect">
            <a:avLst/>
          </a:prstGeom>
          <a:solidFill>
            <a:srgbClr val="EEF6F0"/>
          </a:solidFill>
          <a:ln w="12700">
            <a:solidFill>
              <a:srgbClr val="CFE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E7D4F"/>
                </a:solidFill>
                <a:latin typeface="Arial"/>
              </a:rPr>
              <a:t>Structural demand drivers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Building energy efficiency (insulating panels) · cold chain · e-mobility · blowing-agent transition (HFO/pentane).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72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7200" y="952500"/>
            <a:ext cx="3657600" cy="35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Key risks &amp; cautions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00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Thin, volatile margins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2024 operating loss (-€1.0M EBIT).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Captive nature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→ carve-out complexity (brand, IT, shared svcs).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Heavy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intercompany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ties &amp; group treasury — limited autonomy.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Pledged shares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 be released; thin equity (€6.0M).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Intangibles €12.0M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impairment risk; cyclicality &amp; execution risk.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50080" y="4076700"/>
            <a:ext cx="3291840" cy="97536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024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8102E"/>
                </a:solidFill>
                <a:latin typeface="Arial"/>
              </a:rPr>
              <a:t>Mitigants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Light balance sheet &amp; high liquidity; global installed base; world-class group R&amp;D and sales network behind the asset.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34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952500"/>
            <a:ext cx="36576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Valuation &amp; next steps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36280" y="1463040"/>
            <a:ext cx="3291840" cy="701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524000"/>
            <a:ext cx="30480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Indicative EV/EBITDA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6–9x</a:t>
            </a:r>
            <a:r>
              <a:rPr sz="1500" b="0" i="0">
                <a:solidFill>
                  <a:srgbClr val="999999"/>
                </a:solidFill>
                <a:latin typeface="Arial"/>
              </a:rPr>
              <a:t>   (5–7x small-cap)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6280" y="2255520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Value on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400" b="0" i="0">
                <a:solidFill>
                  <a:srgbClr val="333333"/>
                </a:solidFill>
                <a:latin typeface="Arial"/>
              </a:rPr>
              <a:t>, not the depressed 2024 figure; consider asset value.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6280" y="2895600"/>
            <a:ext cx="329184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Proceed to focused Due Diligence: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6280" y="3108960"/>
            <a:ext cx="3291840" cy="1219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Transfer pricing &amp; intercompany flows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Backlog &amp; project margins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Carve-out feasibility (brand / IT / people)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EBITDA normalisation &amp; true net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Share-pledge release &amp; intangibles testing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6280" y="4457700"/>
            <a:ext cx="3291840" cy="5943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6280" y="4518660"/>
            <a:ext cx="3291840" cy="487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CDD8E6"/>
                </a:solidFill>
                <a:latin typeface="Arial"/>
              </a:rPr>
              <a:t>RECOMMENDATION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Approve progression to Phase-2 DD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000" y="5372100"/>
            <a:ext cx="11430000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3880" y="5455920"/>
            <a:ext cx="11064240" cy="8001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Bottom 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A historic-brand PU engineering platform with a global installed base and structural tailwinds, currently held back by cyclical, thin margins. The opportunity is a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margin-normalisation &amp; aftermarket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play — execution and carve-out feasibility are the swing factors.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8920"/>
            <a:ext cx="7620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For Board discussion —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14500"/>
            <a:ext cx="4572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3920" y="2286000"/>
            <a:ext cx="9144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200" b="1" i="0">
                <a:solidFill>
                  <a:srgbClr val="FFFFFF"/>
                </a:solidFill>
                <a:latin typeface="Arial"/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76600"/>
            <a:ext cx="6858000" cy="70104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7760" y="3368040"/>
            <a:ext cx="6477000" cy="533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D7DC"/>
                </a:solidFill>
                <a:latin typeface="Arial"/>
              </a:rPr>
              <a:t>RECOMMENDATION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Approve progression to Phase-2 Due Diligence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67200"/>
            <a:ext cx="6096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2C200"/>
                </a:solidFill>
                <a:latin typeface="Arial"/>
              </a:rPr>
              <a:t>Key questions to align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7162800" cy="1676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Preferred structure: carve-out of the Italian entity vs whole-Group platform?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Risk appetite on the captive / intercompany &amp; carve-out complexity?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Valuation basis — normalised EBITDA assumptions and entry multiple?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Budget &amp; timeline for Phase-2 DD (financial, commercial, legal, tax)?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5800" y="3276600"/>
            <a:ext cx="2971800" cy="2628900"/>
          </a:xfrm>
          <a:prstGeom prst="rect">
            <a:avLst/>
          </a:prstGeom>
          <a:solidFill>
            <a:srgbClr val="284869"/>
          </a:solidFill>
          <a:ln w="12700">
            <a:solidFill>
              <a:srgbClr val="3A55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6300" y="3390900"/>
            <a:ext cx="2667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Next step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96300" y="3672840"/>
            <a:ext cx="259080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300" y="3779520"/>
            <a:ext cx="2667000" cy="1066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8E6"/>
                </a:solidFill>
                <a:latin typeface="Arial"/>
              </a:rPr>
              <a:t>Mandate the deal team to launch focused Due Diligence and return with a normalised valuation and indicative offer range.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96300" y="4846320"/>
            <a:ext cx="259080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6300" y="4998720"/>
            <a:ext cx="26670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Project lead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Corporate Development / M&amp;A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E93AC"/>
                </a:solidFill>
                <a:latin typeface="Arial"/>
              </a:rPr>
              <a:t>Materials available on request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26364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6355080"/>
            <a:ext cx="7620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635508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HENNECKE-OMS S.p.A. ·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