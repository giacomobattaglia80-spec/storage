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FB2C8"/>
            </a:solidFill>
          </c:spPr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Value of prod.</c:v>
                </c:pt>
                <c:pt idx="2">
                  <c:v>EBITDA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50.4</c:v>
                </c:pt>
                <c:pt idx="1">
                  <c:v>52.0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Revenue</c:v>
                </c:pt>
                <c:pt idx="1">
                  <c:v>Value of prod.</c:v>
                </c:pt>
                <c:pt idx="2">
                  <c:v>EBITDA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44.2</c:v>
                </c:pt>
                <c:pt idx="1">
                  <c:v>40.7</c:v>
                </c:pt>
                <c:pt idx="2">
                  <c:v>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876800"/>
            <a:ext cx="12192000" cy="1981200"/>
          </a:xfrm>
          <a:prstGeom prst="rect">
            <a:avLst/>
          </a:prstGeom>
          <a:solidFill>
            <a:srgbClr val="1A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2600"/>
            <a:ext cx="6858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PRIVATE EQUITY · PROJECT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920" y="2286000"/>
            <a:ext cx="9906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FFFFFF"/>
                </a:solidFill>
                <a:latin typeface="Arial"/>
              </a:rPr>
              <a:t>HENNECKE-OMS S.p.A.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62300"/>
            <a:ext cx="9144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0" i="0">
                <a:solidFill>
                  <a:srgbClr val="F2C200"/>
                </a:solidFill>
                <a:latin typeface="Arial"/>
              </a:rPr>
              <a:t>Investment opportunity assessment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29640" y="3810000"/>
            <a:ext cx="592836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00500"/>
            <a:ext cx="914400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Italian polyurethane-machinery hub of the Hennecke Group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8E6"/>
                </a:solidFill>
                <a:latin typeface="Arial"/>
              </a:rPr>
              <a:t>(part of Brückner Group SE) — carve-out / platform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95900"/>
            <a:ext cx="53340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Presentation to the Board of Directors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B2C8"/>
                </a:solidFill>
                <a:latin typeface="Arial"/>
              </a:rPr>
              <a:t>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0" y="5295900"/>
            <a:ext cx="3657600" cy="609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Based on FY2023–2024 filed financials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Sources: Coface · Chamber of Commerce · public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4840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339840"/>
            <a:ext cx="103632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HENNECKE-OMS S.p.A. — Investment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Italian PU-machinery hub of the Hennecke Group · potential carve-out / platform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/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54864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52578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Company 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32560"/>
            <a:ext cx="512064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Italian production hub of the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Hennecke Group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a world leader in polyurethane (PU) processing machinery.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HQ &amp; plant in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Verano Brianza (MB), Italy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roots in the historic OMS engineering district (since 1986).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100% owned by Hennecke GmbH (DE)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captive subsidiary, subject to direction &amp; coordination.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Turnkey lines for flexible &amp; rigid PU foam: slabstock, sandwich panels, refrigeration, automotive, footwear.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~166 employees (2024);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ISO 9001 &amp; 14001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certified.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Global installed base — recurring aftermarket potential.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457700"/>
            <a:ext cx="5120640" cy="15240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4785360" cy="13335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Group context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parent Hennecke Group was acquired by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Brückner Group SE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(closing 5 Jan 2026), from a fund advised by Capvis.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Hennecke = ~680 employees, ~15 companies, two brands (Hennecke Polyurethane Technology &amp; Hennecke-OMS).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99999"/>
                </a:solidFill>
                <a:latin typeface="Arial"/>
              </a:rPr>
              <a:t>Upstream ownership inferred from public 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97536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F3A5F"/>
                </a:solidFill>
                <a:latin typeface="Arial"/>
              </a:rPr>
              <a:t>Key figures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Revenue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€ 44.2M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-12% YoY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7800" y="13335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0200" y="14249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EBITDA 2024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F3A5F"/>
                </a:solidFill>
                <a:latin typeface="Arial"/>
              </a:rPr>
              <a:t>€ 1.5M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8102E"/>
                </a:solidFill>
                <a:latin typeface="Arial"/>
              </a:rPr>
              <a:t>3.5% margin (vs 7.2% in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4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Liquidity vs bank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€ 10.4M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E7D4F"/>
                </a:solidFill>
                <a:latin typeface="Arial"/>
              </a:rPr>
              <a:t>cash · vs € 6.9M M/L bank debt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67800" y="2400300"/>
            <a:ext cx="27432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0200" y="2491740"/>
            <a:ext cx="25146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99999"/>
                </a:solidFill>
                <a:latin typeface="Arial"/>
              </a:rPr>
              <a:t>Shareholders' equity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3A5F"/>
                </a:solidFill>
                <a:latin typeface="Arial"/>
              </a:rPr>
              <a:t>€ 6.0M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99999"/>
                </a:solidFill>
                <a:latin typeface="Arial"/>
              </a:rPr>
              <a:t>thin — 15.5% of total assets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8880" y="3688080"/>
            <a:ext cx="5334000" cy="259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Deal angle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80" y="4008120"/>
            <a:ext cx="534924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80" y="4152900"/>
            <a:ext cx="5349240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Carve-out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of the Italian entity, or acquisition of the entire Hennecke Group as a platform.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Light balance sheet: low debt, high liquidity, working capital self-financed by customer advances (€10.9M).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Shares currently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pledged</a:t>
            </a:r>
            <a:r>
              <a:rPr sz="1600" b="0" i="0">
                <a:solidFill>
                  <a:srgbClr val="E9EEF5"/>
                </a:solidFill>
                <a:latin typeface="Arial"/>
              </a:rPr>
              <a:t> — to be released on sale.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2C200"/>
                </a:solidFill>
                <a:latin typeface="Arial"/>
              </a:rPr>
              <a:t>• 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Coface credit score 5/10 (medium-high risk).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Financial profile 2023–2024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Cyclical &amp; project-based business · thin margins · self-financed working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/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5486400" cy="53340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80" y="1066800"/>
            <a:ext cx="3810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2023 vs 2024 (€ million)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33400" y="1371600"/>
          <a:ext cx="5181600" cy="3581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563880" y="5105400"/>
            <a:ext cx="5074920" cy="99060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280" y="5196840"/>
            <a:ext cx="477012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C8102E"/>
                </a:solidFill>
                <a:latin typeface="Arial"/>
              </a:rPr>
              <a:t>EBITDA margin: 7.2% → 3.5%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Drop driven by the WIP swing: change in work-in-progress went from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+€19.3M (2023)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to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-€0.5M (2024)</a:t>
            </a:r>
            <a:r>
              <a:rPr sz="1400" b="0" i="0">
                <a:solidFill>
                  <a:srgbClr val="333333"/>
                </a:solidFill>
                <a:latin typeface="Arial"/>
              </a:rPr>
              <a:t> — a timing effect of long projects, not structural deterioration.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0" y="952500"/>
            <a:ext cx="5715000" cy="243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8880" y="105156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Balance-sheet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8880" y="1310640"/>
            <a:ext cx="534924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880" y="1409700"/>
            <a:ext cx="5349240" cy="1905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€ 10.4M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cash  ·  vs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€ 6.9M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M/L bank debt (new 2024)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€ 10.9M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customer advances fund the working capital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€ 6.0M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equity — thin (15.5% of total assets)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intangibles (goodwill) — impairment watch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22222"/>
                </a:solidFill>
                <a:latin typeface="Arial"/>
              </a:rPr>
              <a:t>€ 29.5M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total debt — largely operating &amp; intercompany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222222"/>
                </a:solidFill>
                <a:latin typeface="Arial"/>
              </a:rPr>
              <a:t>Working capital improving: inventory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DIO 119 → 66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3581400"/>
            <a:ext cx="5715000" cy="270510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3672840"/>
            <a:ext cx="5334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A5F"/>
                </a:solidFill>
                <a:latin typeface="Arial"/>
              </a:rPr>
              <a:t>What the numbers say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880" y="3931920"/>
            <a:ext cx="5349240" cy="7620"/>
          </a:xfrm>
          <a:prstGeom prst="rect">
            <a:avLst/>
          </a:prstGeom>
          <a:solidFill>
            <a:srgbClr val="CDD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880" y="4023360"/>
            <a:ext cx="5349240" cy="2209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Revenue -12%, value of production -22%: the gap is entirely the WIP timing effect (long-cycle projects).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Margin compressed by lower fixed-cost absorption (personnel stable in value, higher in incidence).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0" i="0">
                <a:solidFill>
                  <a:srgbClr val="333333"/>
                </a:solidFill>
                <a:latin typeface="Arial"/>
              </a:rPr>
              <a:t>Net loss of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€ 0.24M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in 2024 (vs +€0.29M in 2023).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(cycle + intercompany adjusted) is the right basis for valuation, not the 2024 point figure.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" y="6598920"/>
            <a:ext cx="6858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Source: Coface Full Report (filed FY2023–2024). Amounts in € million.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228600"/>
            <a:ext cx="8382000" cy="381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F3A5F"/>
                </a:solidFill>
                <a:latin typeface="Arial"/>
              </a:rPr>
              <a:t>Investment thesis — value, risks &amp;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000" y="594360"/>
            <a:ext cx="9144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66666"/>
                </a:solidFill>
                <a:latin typeface="Arial"/>
              </a:rPr>
              <a:t>Margin-recovery &amp; aftermarket story on a structurally-supported PU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0" y="19812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CONFIDENTIAL · For Board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6537960"/>
            <a:ext cx="11430000" cy="7620"/>
          </a:xfrm>
          <a:prstGeom prst="rect">
            <a:avLst/>
          </a:prstGeom>
          <a:solidFill>
            <a:srgbClr val="DF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0" y="6598920"/>
            <a:ext cx="1143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/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952500"/>
            <a:ext cx="3657600" cy="35052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Value-creation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8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Margin recovery 3.5% → 6-8%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via fixed-cost efficiency.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Grow the recurring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aftermarket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(service, spares, retrofit).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Working-capital optimisation (already underway: DIO 119→66).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Backlog normalisation &amp; pricing discipline on projects.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2E7D4F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Optional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buy-and-build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in PU / adjacent capital-goods machinery.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880" y="4076700"/>
            <a:ext cx="3291840" cy="975360"/>
          </a:xfrm>
          <a:prstGeom prst="rect">
            <a:avLst/>
          </a:prstGeom>
          <a:solidFill>
            <a:srgbClr val="EEF6F0"/>
          </a:solidFill>
          <a:ln w="12700">
            <a:solidFill>
              <a:srgbClr val="CFE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E7D4F"/>
                </a:solidFill>
                <a:latin typeface="Arial"/>
              </a:rPr>
              <a:t>Structural demand drivers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Building energy efficiency (insulating panels) · cold chain · e-mobility · blowing-agent transition (HFO/pentane).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2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7200" y="952500"/>
            <a:ext cx="3657600" cy="350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Key risks &amp; cautions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0080" y="1417320"/>
            <a:ext cx="3291840" cy="2514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Thin, volatile margins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; 2024 operating loss (-€1.0M EBIT).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Captive nature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→ carve-out complexity (brand, IT, shared svcs).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0" i="0">
                <a:solidFill>
                  <a:srgbClr val="222222"/>
                </a:solidFill>
                <a:latin typeface="Arial"/>
              </a:rPr>
              <a:t>Heavy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intercompany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ties &amp; group treasury — limited autonomy.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Pledged shares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to be released; thin equity (€6.0M).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500" b="1" i="0">
                <a:solidFill>
                  <a:srgbClr val="222222"/>
                </a:solidFill>
                <a:latin typeface="Arial"/>
              </a:rPr>
              <a:t>Intangibles €12.0M</a:t>
            </a:r>
            <a:r>
              <a:rPr sz="1500" b="0" i="0">
                <a:solidFill>
                  <a:srgbClr val="222222"/>
                </a:solidFill>
                <a:latin typeface="Arial"/>
              </a:rPr>
              <a:t> — impairment risk; cyclicality &amp; execution risk.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4076700"/>
            <a:ext cx="3291840" cy="975360"/>
          </a:xfrm>
          <a:prstGeom prst="rect">
            <a:avLst/>
          </a:prstGeom>
          <a:solidFill>
            <a:srgbClr val="FDEEF0"/>
          </a:solidFill>
          <a:ln w="12700">
            <a:solidFill>
              <a:srgbClr val="F3C5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02480" y="4168140"/>
            <a:ext cx="298704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8102E"/>
                </a:solidFill>
                <a:latin typeface="Arial"/>
              </a:rPr>
              <a:t>Mitigants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Light balance sheet &amp; high liquidity; global installed base; world-class group R&amp;D and sales network behind the asset.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3400" y="952500"/>
            <a:ext cx="3657600" cy="426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952500"/>
            <a:ext cx="3657600" cy="350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952500"/>
            <a:ext cx="3429000" cy="350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Valuation &amp; next steps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6280" y="1463040"/>
            <a:ext cx="3291840" cy="701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D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524000"/>
            <a:ext cx="30480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666666"/>
                </a:solidFill>
                <a:latin typeface="Arial"/>
              </a:rPr>
              <a:t>Indicative EV/EBITDA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6–9x</a:t>
            </a:r>
            <a:r>
              <a:rPr sz="1500" b="0" i="0">
                <a:solidFill>
                  <a:srgbClr val="999999"/>
                </a:solidFill>
                <a:latin typeface="Arial"/>
              </a:rPr>
              <a:t>   (5–7x small-cap)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6280" y="2255520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Value on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normalised EBITDA</a:t>
            </a:r>
            <a:r>
              <a:rPr sz="1400" b="0" i="0">
                <a:solidFill>
                  <a:srgbClr val="333333"/>
                </a:solidFill>
                <a:latin typeface="Arial"/>
              </a:rPr>
              <a:t>, not the depressed 2024 figure; consider asset value.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6280" y="2895600"/>
            <a:ext cx="3291840" cy="198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F3A5F"/>
                </a:solidFill>
                <a:latin typeface="Arial"/>
              </a:rPr>
              <a:t>Proceed to focused Due Diligence: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6280" y="3108960"/>
            <a:ext cx="3291840" cy="1219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Transfer pricing &amp; intercompany flows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Backlog &amp; project margins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Carve-out feasibility (brand / IT / people)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EBITDA normalisation &amp; true net debt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1F3A5F"/>
                </a:solidFill>
                <a:latin typeface="Arial"/>
              </a:rPr>
              <a:t>•  </a:t>
            </a:r>
            <a:r>
              <a:rPr sz="1400" b="0" i="0">
                <a:solidFill>
                  <a:srgbClr val="222222"/>
                </a:solidFill>
                <a:latin typeface="Arial"/>
              </a:rPr>
              <a:t>Share-pledge release &amp; intangibles testing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6280" y="4457700"/>
            <a:ext cx="3291840" cy="5943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6280" y="4518660"/>
            <a:ext cx="3291840" cy="487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CDD8E6"/>
                </a:solidFill>
                <a:latin typeface="Arial"/>
              </a:rPr>
              <a:t>RECOMMENDATION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Approve progression to Phase-2 DD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5372100"/>
            <a:ext cx="11430000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3880" y="5455920"/>
            <a:ext cx="11064240" cy="8001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Bottom 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A historic-brand PU engineering platform with a global installed base and structural tailwinds, currently held back by cyclical, thin margins. The opportunity is a </a:t>
            </a:r>
            <a:r>
              <a:rPr sz="1500" b="1" i="0">
                <a:solidFill>
                  <a:srgbClr val="333333"/>
                </a:solidFill>
                <a:latin typeface="Arial"/>
              </a:rPr>
              <a:t>margin-normalisation &amp; aftermarket</a:t>
            </a:r>
            <a:r>
              <a:rPr sz="1500" b="0" i="0">
                <a:solidFill>
                  <a:srgbClr val="333333"/>
                </a:solidFill>
                <a:latin typeface="Arial"/>
              </a:rPr>
              <a:t> play — execution and carve-out feasibility are the swing factors.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6598920"/>
            <a:ext cx="7620000" cy="152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99999"/>
                </a:solidFill>
                <a:latin typeface="Arial"/>
              </a:rPr>
              <a:t>For Board discussion — not an investment recommendation; subject to specialist Due Diligence.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14500"/>
            <a:ext cx="4572000" cy="21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B2C8"/>
                </a:solidFill>
                <a:latin typeface="Arial"/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72640"/>
            <a:ext cx="685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920" y="2286000"/>
            <a:ext cx="9144000" cy="838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200" b="1" i="0">
                <a:solidFill>
                  <a:srgbClr val="FFFFFF"/>
                </a:solidFill>
                <a:latin typeface="Arial"/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76600"/>
            <a:ext cx="6858000" cy="70104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7760" y="3368040"/>
            <a:ext cx="6477000" cy="533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D7DC"/>
                </a:solidFill>
                <a:latin typeface="Arial"/>
              </a:rPr>
              <a:t>RECOMMENDATION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Approve progression to Phase-2 Due Diligence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67200"/>
            <a:ext cx="6096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2C200"/>
                </a:solidFill>
                <a:latin typeface="Arial"/>
              </a:rPr>
              <a:t>Key questions to align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7162800" cy="1676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Preferred structure: carve-out of the Italian entity vs whole-Group platform?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Risk appetite on the captive / intercompany &amp; carve-out complexity?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Valuation basis — normalised EBITDA assumptions and entry multiple?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C8102E"/>
                </a:solidFill>
                <a:latin typeface="Arial"/>
              </a:rPr>
              <a:t>•  </a:t>
            </a:r>
            <a:r>
              <a:rPr sz="1800" b="0" i="0">
                <a:solidFill>
                  <a:srgbClr val="E3E9F1"/>
                </a:solidFill>
                <a:latin typeface="Arial"/>
              </a:rPr>
              <a:t>Budget &amp; timeline for Phase-2 DD (financial, commercial, legal, tax)?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5800" y="3276600"/>
            <a:ext cx="2971800" cy="2628900"/>
          </a:xfrm>
          <a:prstGeom prst="rect">
            <a:avLst/>
          </a:prstGeom>
          <a:solidFill>
            <a:srgbClr val="284869"/>
          </a:solidFill>
          <a:ln w="12700">
            <a:solidFill>
              <a:srgbClr val="3A55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6300" y="3390900"/>
            <a:ext cx="2667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Next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96300" y="3672840"/>
            <a:ext cx="2590800" cy="762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779520"/>
            <a:ext cx="2667000" cy="1066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8E6"/>
                </a:solidFill>
                <a:latin typeface="Arial"/>
              </a:rPr>
              <a:t>Mandate the deal team to launch focused Due Diligence and return with a normalised valuation and indicative offer range.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96300" y="4846320"/>
            <a:ext cx="2590800" cy="15240"/>
          </a:xfrm>
          <a:prstGeom prst="rect">
            <a:avLst/>
          </a:prstGeom>
          <a:solidFill>
            <a:srgbClr val="3A55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6300" y="4998720"/>
            <a:ext cx="2667000" cy="762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8"/>
                </a:solidFill>
                <a:latin typeface="Arial"/>
              </a:rPr>
              <a:t>Project lead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Corporate Development / M&amp;A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E93AC"/>
                </a:solidFill>
                <a:latin typeface="Arial"/>
              </a:rPr>
              <a:t>Materials available on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263640"/>
            <a:ext cx="10363200" cy="7620"/>
          </a:xfrm>
          <a:prstGeom prst="rect">
            <a:avLst/>
          </a:prstGeom>
          <a:solidFill>
            <a:srgbClr val="2D4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355080"/>
            <a:ext cx="7620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CONFIDENTIAL — For Board discussion only. Not an investment recommendation; subject to specialist Due Diligence.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355080"/>
            <a:ext cx="3048000" cy="167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E93AC"/>
                </a:solidFill>
                <a:latin typeface="Arial"/>
              </a:rPr>
              <a:t>HENNECKE-OMS S.p.A. ·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