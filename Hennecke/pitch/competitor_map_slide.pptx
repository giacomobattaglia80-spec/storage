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28600"/>
            <a:ext cx="8382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3A5F"/>
                </a:solidFill>
                <a:latin typeface="Arial"/>
              </a:rPr>
              <a:t>Competitor map — PU machinery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594360"/>
            <a:ext cx="914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6666"/>
                </a:solidFill>
                <a:latin typeface="Arial"/>
              </a:rPr>
              <a:t>Qualitative positioning of the main players in the reference sector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198120"/>
            <a:ext cx="3048000" cy="167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99999"/>
                </a:solidFill>
                <a:latin typeface="Arial"/>
              </a:rPr>
              <a:t>CONFIDENTIAL · For Board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6537960"/>
            <a:ext cx="11430000" cy="762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0" y="6598920"/>
            <a:ext cx="1143000" cy="152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03960"/>
            <a:ext cx="6705600" cy="4038600"/>
          </a:xfrm>
          <a:prstGeom prst="rect">
            <a:avLst/>
          </a:prstGeom>
          <a:solidFill>
            <a:srgbClr val="FBFC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238500"/>
            <a:ext cx="6248400" cy="10668"/>
          </a:xfrm>
          <a:prstGeom prst="rect">
            <a:avLst/>
          </a:prstGeom>
          <a:solidFill>
            <a:srgbClr val="C9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7200" y="1447800"/>
            <a:ext cx="10668" cy="3581400"/>
          </a:xfrm>
          <a:prstGeom prst="rect">
            <a:avLst/>
          </a:prstGeom>
          <a:solidFill>
            <a:srgbClr val="C9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257300"/>
            <a:ext cx="6248400" cy="152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66666"/>
                </a:solidFill>
                <a:latin typeface="Arial"/>
              </a:rPr>
              <a:t>▲ Global scale &amp; installed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067300"/>
            <a:ext cx="6248400" cy="152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66666"/>
                </a:solidFill>
                <a:latin typeface="Arial"/>
              </a:rPr>
              <a:t>▼ Regional / niche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" y="3284220"/>
            <a:ext cx="1752600" cy="137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99999"/>
                </a:solidFill>
                <a:latin typeface="Arial"/>
              </a:rPr>
              <a:t>◄ Specialised PU pure-play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2600" y="3284220"/>
            <a:ext cx="1752600" cy="137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99999"/>
                </a:solidFill>
                <a:latin typeface="Arial"/>
              </a:rPr>
              <a:t>Diversified machinery group ►</a:t>
            </a:r>
          </a:p>
        </p:txBody>
      </p:sp>
      <p:sp>
        <p:nvSpPr>
          <p:cNvPr id="15" name="Oval 14"/>
          <p:cNvSpPr/>
          <p:nvPr/>
        </p:nvSpPr>
        <p:spPr>
          <a:xfrm>
            <a:off x="2999232" y="1743456"/>
            <a:ext cx="411480" cy="41148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172" y="2162556"/>
            <a:ext cx="1371600" cy="259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Arial"/>
              </a:rPr>
              <a:t>Hennecke Group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3A5F"/>
                </a:solidFill>
                <a:latin typeface="Arial"/>
              </a:rPr>
              <a:t>PU world leader (incl. OMS)</a:t>
            </a:r>
          </a:p>
        </p:txBody>
      </p:sp>
      <p:sp>
        <p:nvSpPr>
          <p:cNvPr id="17" name="Oval 16"/>
          <p:cNvSpPr/>
          <p:nvPr/>
        </p:nvSpPr>
        <p:spPr>
          <a:xfrm>
            <a:off x="2287524" y="2497836"/>
            <a:ext cx="335280" cy="335280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69364" y="2840736"/>
            <a:ext cx="1371600" cy="259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Arial"/>
              </a:rPr>
              <a:t>Hennecke-OMS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C8102E"/>
                </a:solidFill>
                <a:latin typeface="Arial"/>
              </a:rPr>
              <a:t>TARGET</a:t>
            </a:r>
          </a:p>
        </p:txBody>
      </p:sp>
      <p:sp>
        <p:nvSpPr>
          <p:cNvPr id="19" name="Oval 18"/>
          <p:cNvSpPr/>
          <p:nvPr/>
        </p:nvSpPr>
        <p:spPr>
          <a:xfrm>
            <a:off x="2942844" y="3101340"/>
            <a:ext cx="274320" cy="274320"/>
          </a:xfrm>
          <a:prstGeom prst="ellipse">
            <a:avLst/>
          </a:prstGeom>
          <a:solidFill>
            <a:srgbClr val="5B7A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4204" y="3383280"/>
            <a:ext cx="1371600" cy="259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Arial"/>
              </a:rPr>
              <a:t>Cannon / Afros</a:t>
            </a:r>
          </a:p>
        </p:txBody>
      </p:sp>
      <p:sp>
        <p:nvSpPr>
          <p:cNvPr id="21" name="Oval 20"/>
          <p:cNvSpPr/>
          <p:nvPr/>
        </p:nvSpPr>
        <p:spPr>
          <a:xfrm>
            <a:off x="6216396" y="1917192"/>
            <a:ext cx="350520" cy="350520"/>
          </a:xfrm>
          <a:prstGeom prst="ellipse">
            <a:avLst/>
          </a:prstGeom>
          <a:solidFill>
            <a:srgbClr val="5B7A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6" y="2275332"/>
            <a:ext cx="1371600" cy="259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Arial"/>
              </a:rPr>
              <a:t>KraussMaffei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999999"/>
                </a:solidFill>
                <a:latin typeface="Arial"/>
              </a:rPr>
              <a:t>RPM unit · ChemChina</a:t>
            </a:r>
          </a:p>
        </p:txBody>
      </p:sp>
      <p:sp>
        <p:nvSpPr>
          <p:cNvPr id="23" name="Oval 22"/>
          <p:cNvSpPr/>
          <p:nvPr/>
        </p:nvSpPr>
        <p:spPr>
          <a:xfrm>
            <a:off x="5644896" y="2973324"/>
            <a:ext cx="243840" cy="243840"/>
          </a:xfrm>
          <a:prstGeom prst="ellipse">
            <a:avLst/>
          </a:prstGeom>
          <a:solidFill>
            <a:srgbClr val="5B7A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1016" y="3224784"/>
            <a:ext cx="1371600" cy="259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Arial"/>
              </a:rPr>
              <a:t>Kurtz Ersa</a:t>
            </a:r>
          </a:p>
        </p:txBody>
      </p:sp>
      <p:sp>
        <p:nvSpPr>
          <p:cNvPr id="25" name="Oval 24"/>
          <p:cNvSpPr/>
          <p:nvPr/>
        </p:nvSpPr>
        <p:spPr>
          <a:xfrm>
            <a:off x="4770120" y="3403092"/>
            <a:ext cx="243840" cy="243840"/>
          </a:xfrm>
          <a:prstGeom prst="ellipse">
            <a:avLst/>
          </a:prstGeom>
          <a:solidFill>
            <a:srgbClr val="5B7A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654552"/>
            <a:ext cx="1371600" cy="259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Arial"/>
              </a:rPr>
              <a:t>Frimo</a:t>
            </a:r>
          </a:p>
        </p:txBody>
      </p:sp>
      <p:sp>
        <p:nvSpPr>
          <p:cNvPr id="27" name="Oval 26"/>
          <p:cNvSpPr/>
          <p:nvPr/>
        </p:nvSpPr>
        <p:spPr>
          <a:xfrm>
            <a:off x="2286000" y="3991356"/>
            <a:ext cx="213360" cy="213360"/>
          </a:xfrm>
          <a:prstGeom prst="ellipse">
            <a:avLst/>
          </a:prstGeom>
          <a:solidFill>
            <a:srgbClr val="5B7A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06880" y="4212336"/>
            <a:ext cx="1371600" cy="259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Arial"/>
              </a:rPr>
              <a:t>Saip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1203960"/>
            <a:ext cx="4038600" cy="403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1295400"/>
            <a:ext cx="3657600" cy="198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3A5F"/>
                </a:solidFill>
                <a:latin typeface="Arial"/>
              </a:rPr>
              <a:t>Key players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1524000"/>
            <a:ext cx="3672840" cy="762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1615440"/>
            <a:ext cx="3688080" cy="3505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5B7A9E"/>
                </a:solidFill>
                <a:latin typeface="Arial"/>
              </a:rPr>
              <a:t>•  </a:t>
            </a:r>
            <a:r>
              <a:rPr sz="1300" b="1" i="0">
                <a:solidFill>
                  <a:srgbClr val="1F3A5F"/>
                </a:solidFill>
                <a:latin typeface="Arial"/>
              </a:rPr>
              <a:t>Hennecke Group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(DE/IT) — world leader in PU process tech; includes the target Hennecke-OMS.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5B7A9E"/>
                </a:solidFill>
                <a:latin typeface="Arial"/>
              </a:rPr>
              <a:t>•  </a:t>
            </a:r>
            <a:r>
              <a:rPr sz="1300" b="1" i="0">
                <a:solidFill>
                  <a:srgbClr val="222222"/>
                </a:solidFill>
                <a:latin typeface="Arial"/>
              </a:rPr>
              <a:t>Cannon / Afros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(Peschiera Borromeo, IT) — PU metering, foam &amp; composites; main Italian rival.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5B7A9E"/>
                </a:solidFill>
                <a:latin typeface="Arial"/>
              </a:rPr>
              <a:t>•  </a:t>
            </a:r>
            <a:r>
              <a:rPr sz="1300" b="1" i="0">
                <a:solidFill>
                  <a:srgbClr val="222222"/>
                </a:solidFill>
                <a:latin typeface="Arial"/>
              </a:rPr>
              <a:t>KraussMaffei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(Munich, DE) — Reaction Process Machinery unit; diversified, ChemChina-owned.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5B7A9E"/>
                </a:solidFill>
                <a:latin typeface="Arial"/>
              </a:rPr>
              <a:t>•  </a:t>
            </a:r>
            <a:r>
              <a:rPr sz="1300" b="1" i="0">
                <a:solidFill>
                  <a:srgbClr val="222222"/>
                </a:solidFill>
                <a:latin typeface="Arial"/>
              </a:rPr>
              <a:t>Frimo Group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(Lotte, DE) — PU tooling &amp; systems, automotive-focused.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5B7A9E"/>
                </a:solidFill>
                <a:latin typeface="Arial"/>
              </a:rPr>
              <a:t>•  </a:t>
            </a:r>
            <a:r>
              <a:rPr sz="1300" b="1" i="0">
                <a:solidFill>
                  <a:srgbClr val="222222"/>
                </a:solidFill>
                <a:latin typeface="Arial"/>
              </a:rPr>
              <a:t>Kurtz Ersa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(Kreuzwertheim, DE) — EPS/PU foaming machinery.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5B7A9E"/>
                </a:solidFill>
                <a:latin typeface="Arial"/>
              </a:rPr>
              <a:t>•  </a:t>
            </a:r>
            <a:r>
              <a:rPr sz="1300" b="1" i="0">
                <a:solidFill>
                  <a:srgbClr val="222222"/>
                </a:solidFill>
                <a:latin typeface="Arial"/>
              </a:rPr>
              <a:t>Saip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(Offanengo, IT) — PU plants / refrigeration insulation.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5334000"/>
            <a:ext cx="762000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3A5F"/>
                </a:solidFill>
                <a:latin typeface="Arial"/>
              </a:rPr>
              <a:t>Net read: the target sits among specialised PU pure-plays with global, group-backed reach — differentiated in sandwich-panel &amp; flexible-foam lines.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5486400"/>
            <a:ext cx="9906000" cy="152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99999"/>
                </a:solidFill>
                <a:latin typeface="Arial"/>
              </a:rPr>
              <a:t>Qualitative positioning — illustrative, not to scale; consolidated competitor revenues not disclosed in the analysed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