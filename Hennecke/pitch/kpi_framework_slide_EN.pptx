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000" y="213360"/>
            <a:ext cx="9144000" cy="3048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1F3A5F"/>
                </a:solidFill>
                <a:latin typeface="Arial"/>
              </a:rPr>
              <a:t>KPI framework — growth, profitability &amp; cash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579120"/>
            <a:ext cx="9144000" cy="19812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666666"/>
                </a:solidFill>
                <a:latin typeface="Arial"/>
              </a:rPr>
              <a:t>Commercial &amp; Operations levers underpinning the monitoring of the target's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0" y="198120"/>
            <a:ext cx="3048000" cy="16764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50" b="0">
                <a:solidFill>
                  <a:srgbClr val="999999"/>
                </a:solidFill>
                <a:latin typeface="Arial"/>
              </a:rPr>
              <a:t>CONFIDENTIAL · For Board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899160"/>
            <a:ext cx="3276600" cy="35052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899160"/>
            <a:ext cx="3276600" cy="350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GROWTH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5400" y="899160"/>
            <a:ext cx="3276600" cy="350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5400" y="899160"/>
            <a:ext cx="3276600" cy="350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PROFITABILITY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10600" y="899160"/>
            <a:ext cx="3276600" cy="3505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0600" y="899160"/>
            <a:ext cx="3276600" cy="35052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CASH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152400" y="1905000"/>
            <a:ext cx="1143000" cy="304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COMMERCIAL</a:t>
            </a:r>
          </a:p>
        </p:txBody>
      </p:sp>
      <p:sp>
        <p:nvSpPr>
          <p:cNvPr id="13" name="TextBox 12"/>
          <p:cNvSpPr txBox="1"/>
          <p:nvPr/>
        </p:nvSpPr>
        <p:spPr>
          <a:xfrm rot="16200000">
            <a:off x="152400" y="4076700"/>
            <a:ext cx="1143000" cy="304800"/>
          </a:xfrm>
          <a:prstGeom prst="rect">
            <a:avLst/>
          </a:prstGeom>
          <a:noFill/>
        </p:spPr>
        <p:txBody>
          <a:bodyPr wrap="square" anchor="ctr" lIns="38100" rIns="381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8102E"/>
                </a:solidFill>
                <a:latin typeface="Arial"/>
              </a:rPr>
              <a:t>OPERATIONS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1356360"/>
            <a:ext cx="3276600" cy="2194560"/>
          </a:xfrm>
          <a:prstGeom prst="rect">
            <a:avLst/>
          </a:prstGeom>
          <a:solidFill>
            <a:srgbClr val="F7FBF8"/>
          </a:solidFill>
          <a:ln w="12700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22120" y="1493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Order intake &amp; Book-to-bill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Backlog (months of coverage)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Win rate / hit rate on bids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Aftermarket share %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Application &amp; geography mix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5400" y="1356360"/>
            <a:ext cx="3276600" cy="2194560"/>
          </a:xfrm>
          <a:prstGeom prst="rect">
            <a:avLst/>
          </a:prstGeom>
          <a:solidFill>
            <a:srgbClr val="F5F8FC"/>
          </a:solidFill>
          <a:ln w="12700">
            <a:solidFill>
              <a:srgbClr val="CD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27320" y="1493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Bid margin per project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% orders above margin threshold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Pricing waterfall / discount leakage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Price / Volume / Mix variance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Aftermarket vs new-machine margin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10600" y="1356360"/>
            <a:ext cx="3276600" cy="2194560"/>
          </a:xfrm>
          <a:prstGeom prst="rect">
            <a:avLst/>
          </a:prstGeom>
          <a:solidFill>
            <a:srgbClr val="FBF6EA"/>
          </a:solidFill>
          <a:ln w="12700">
            <a:solidFill>
              <a:srgbClr val="EA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493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Down-payment % at order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Billing-milestone (SAL) adherence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DSO (days sales outstanding)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Advances ÷ WIP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Penalties / performance bonds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00200" y="3642360"/>
            <a:ext cx="3276600" cy="2194560"/>
          </a:xfrm>
          <a:prstGeom prst="rect">
            <a:avLst/>
          </a:prstGeom>
          <a:solidFill>
            <a:srgbClr val="F7FBF8"/>
          </a:solidFill>
          <a:ln w="12700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22120" y="3779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Capacity utilisation (shop floor &amp; eng.)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On-Time Delivery (OTD)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Order-to-delivery lead time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Throughput (machines completed)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2E7D4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NPD / time-to-market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05400" y="3642360"/>
            <a:ext cx="3276600" cy="2194560"/>
          </a:xfrm>
          <a:prstGeom prst="rect">
            <a:avLst/>
          </a:prstGeom>
          <a:solidFill>
            <a:srgbClr val="F5F8FC"/>
          </a:solidFill>
          <a:ln w="12700">
            <a:solidFill>
              <a:srgbClr val="CD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7320" y="3779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EAC vs budget / margin-at-completion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Productivity (std vs actual hrs) / OEE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Scrap · give-away · material yield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Material cost ratio &amp; PPV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1F3A5F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Warranty cost · revenue/FTE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0600" y="3642360"/>
            <a:ext cx="3276600" cy="2194560"/>
          </a:xfrm>
          <a:prstGeom prst="rect">
            <a:avLst/>
          </a:prstGeom>
          <a:solidFill>
            <a:srgbClr val="FBF6EA"/>
          </a:solidFill>
          <a:ln w="12700">
            <a:solidFill>
              <a:srgbClr val="EAD9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32520" y="3779520"/>
            <a:ext cx="3063240" cy="198120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DIO inventory (days)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Unbilled WIP &amp; over/under-billing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DPO (days payable)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Cash Conversion Cycle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B8860B"/>
                </a:solidFill>
                <a:latin typeface="Arial"/>
              </a:rPr>
              <a:t>•  </a:t>
            </a:r>
            <a:r>
              <a:rPr sz="1300" b="0">
                <a:solidFill>
                  <a:srgbClr val="222222"/>
                </a:solidFill>
                <a:latin typeface="Arial"/>
              </a:rPr>
              <a:t>Capex vs plan · FCF conversion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1000" y="5974080"/>
            <a:ext cx="1150620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CD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6019800"/>
            <a:ext cx="11277600" cy="441960"/>
          </a:xfrm>
          <a:prstGeom prst="rect">
            <a:avLst/>
          </a:prstGeom>
          <a:noFill/>
        </p:spPr>
        <p:txBody>
          <a:bodyPr wrap="square" anchor="t" lIns="38100" rIns="381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F3A5F"/>
                </a:solidFill>
                <a:latin typeface="Arial"/>
              </a:rPr>
              <a:t>Captive lens: </a:t>
            </a:r>
            <a:r>
              <a:rPr sz="1300" b="0">
                <a:solidFill>
                  <a:srgbClr val="222222"/>
                </a:solidFill>
                <a:latin typeface="Arial"/>
              </a:rPr>
              <a:t>intercompany % (purchases/sales) &amp; stand-alone margin — to measure true profitability and prepare a possible carve-out.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Arial"/>
              </a:rPr>
              <a:t>CFO cockpit (10): </a:t>
            </a:r>
            <a:r>
              <a:rPr sz="1250" b="0">
                <a:solidFill>
                  <a:srgbClr val="333333"/>
                </a:solidFill>
                <a:latin typeface="Arial"/>
              </a:rPr>
              <a:t>order intake · book-to-bill · backlog · aftermarket % · normalised EBITDA · margin-at-completion · OTD · CCC · advances÷WIP · FCF conversion.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