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13360"/>
            <a:ext cx="9144000" cy="304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F3A5F"/>
                </a:solidFill>
                <a:latin typeface="Arial"/>
              </a:rPr>
              <a:t>KPI framework — crescita, redditività &amp; cassa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79120"/>
            <a:ext cx="9144000" cy="1981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Leve Commercial &amp; Operations alla base del monitoraggio del business della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198120"/>
            <a:ext cx="3048000" cy="167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999999"/>
                </a:solidFill>
                <a:latin typeface="Arial"/>
              </a:rPr>
              <a:t>CONFIDENTIAL · For Board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899160"/>
            <a:ext cx="3276600" cy="3505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899160"/>
            <a:ext cx="3276600" cy="350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CRESCITA (Growth)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0" y="899160"/>
            <a:ext cx="3276600" cy="350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5400" y="899160"/>
            <a:ext cx="3276600" cy="350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REDDITIVITÀ (Profitability)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0600" y="899160"/>
            <a:ext cx="3276600" cy="3505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0600" y="899160"/>
            <a:ext cx="3276600" cy="350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CASSA (Cash)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152400" y="1905000"/>
            <a:ext cx="1143000" cy="304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COMMERCIAL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152400" y="4076700"/>
            <a:ext cx="1143000" cy="304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356360"/>
            <a:ext cx="3276600" cy="2194560"/>
          </a:xfrm>
          <a:prstGeom prst="rect">
            <a:avLst/>
          </a:prstGeom>
          <a:solidFill>
            <a:srgbClr val="F7FBF8"/>
          </a:solidFill>
          <a:ln w="12700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2120" y="1493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Order intake &amp; Book-to-bill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Backlog (mesi di copertura)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Win rate / hit rate offerte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Aftermarket share %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Mix applicazioni &amp; geografie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5400" y="1356360"/>
            <a:ext cx="3276600" cy="2194560"/>
          </a:xfrm>
          <a:prstGeom prst="rect">
            <a:avLst/>
          </a:prstGeom>
          <a:solidFill>
            <a:srgbClr val="F5F8FC"/>
          </a:solidFill>
          <a:ln w="12700">
            <a:solidFill>
              <a:srgbClr val="CD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7320" y="1493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Margine di offerta per commessa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% ordini sopra soglia margine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Pricing waterfall / discount leakage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Var. Prezzo / Volume / Mix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Margine aftermarket vs nuovo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10600" y="1356360"/>
            <a:ext cx="3276600" cy="2194560"/>
          </a:xfrm>
          <a:prstGeom prst="rect">
            <a:avLst/>
          </a:prstGeom>
          <a:solidFill>
            <a:srgbClr val="FBF6EA"/>
          </a:solidFill>
          <a:ln w="12700">
            <a:solidFill>
              <a:srgbClr val="EA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493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% acconto all'ordine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Aderenza milestone SAL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DSO clienti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Acconti ÷ WIP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Penali / performance bond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642360"/>
            <a:ext cx="3276600" cy="2194560"/>
          </a:xfrm>
          <a:prstGeom prst="rect">
            <a:avLst/>
          </a:prstGeom>
          <a:solidFill>
            <a:srgbClr val="F7FBF8"/>
          </a:solidFill>
          <a:ln w="12700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2120" y="3779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Saturazione capacità (fabbrica &amp; eng.)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On-Time Delivery (OTD)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Lead time order-to-delivery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Throughput (impianti completati)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NPD / time-to-market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5400" y="3642360"/>
            <a:ext cx="3276600" cy="2194560"/>
          </a:xfrm>
          <a:prstGeom prst="rect">
            <a:avLst/>
          </a:prstGeom>
          <a:solidFill>
            <a:srgbClr val="F5F8FC"/>
          </a:solidFill>
          <a:ln w="12700">
            <a:solidFill>
              <a:srgbClr val="CD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7320" y="3779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EAC vs budget / margine-a-finire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Produttività (ore std vs eff.) / OEE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Scrap · give-away · material yield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Material cost ratio &amp; PPV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Costi garanzia · ricavi/FTE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0600" y="3642360"/>
            <a:ext cx="3276600" cy="2194560"/>
          </a:xfrm>
          <a:prstGeom prst="rect">
            <a:avLst/>
          </a:prstGeom>
          <a:solidFill>
            <a:srgbClr val="FBF6EA"/>
          </a:solidFill>
          <a:ln w="12700">
            <a:solidFill>
              <a:srgbClr val="EA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779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DIO magazzino (gg)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WIP unbilled &amp; over/under-billing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DPO fornitori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Cash Conversion Cycle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Capex vs piano · FCF conversion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1000" y="5974080"/>
            <a:ext cx="1150620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CD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6019800"/>
            <a:ext cx="11277600" cy="441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Arial"/>
              </a:rPr>
              <a:t>Lente captive: </a:t>
            </a:r>
            <a:r>
              <a:rPr sz="1300" b="0">
                <a:solidFill>
                  <a:srgbClr val="222222"/>
                </a:solidFill>
                <a:latin typeface="Arial"/>
              </a:rPr>
              <a:t>% infragruppo (acquisti/vendite) &amp; margine stand-alone — per misurare la redditività reale e preparare un eventuale carve-out.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CFO cockpit (10): </a:t>
            </a:r>
            <a:r>
              <a:rPr sz="1250" b="0">
                <a:solidFill>
                  <a:srgbClr val="333333"/>
                </a:solidFill>
                <a:latin typeface="Arial"/>
              </a:rPr>
              <a:t>order intake · book-to-bill · backlog · aftermarket % · EBITDA norm. · margine-a-finire · OTD · CCC · acconti÷WIP · FCF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